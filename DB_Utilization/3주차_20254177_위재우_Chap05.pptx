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65" r:id="rId4"/>
    <p:sldId id="258" r:id="rId5"/>
    <p:sldId id="268" r:id="rId6"/>
    <p:sldId id="259" r:id="rId7"/>
    <p:sldId id="260" r:id="rId8"/>
    <p:sldId id="261" r:id="rId9"/>
    <p:sldId id="269" r:id="rId10"/>
    <p:sldId id="262" r:id="rId11"/>
    <p:sldId id="271" r:id="rId12"/>
    <p:sldId id="263" r:id="rId13"/>
    <p:sldId id="264" r:id="rId14"/>
    <p:sldId id="272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Chap05. </a:t>
            </a:r>
            <a:r>
              <a:rPr lang="ko-KR" altLang="en-US" dirty="0"/>
              <a:t>더 정확하고 다양하게 결과를 출력하는 </a:t>
            </a:r>
            <a:r>
              <a:rPr lang="en-US" altLang="ko-KR" dirty="0"/>
              <a:t>WHERE</a:t>
            </a:r>
            <a:r>
              <a:rPr lang="ko-KR" altLang="en-US" dirty="0"/>
              <a:t>절과 연산자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n</a:t>
            </a:r>
            <a:r>
              <a:rPr lang="ko-KR" altLang="en-US"/>
              <a:t>주차</a:t>
            </a:r>
            <a:r>
              <a:rPr lang="en-US" altLang="ko-KR"/>
              <a:t>_</a:t>
            </a:r>
            <a:r>
              <a:rPr lang="ko-KR" altLang="en-US"/>
              <a:t>학번</a:t>
            </a:r>
            <a:r>
              <a:rPr lang="en-US" altLang="ko-KR"/>
              <a:t>_</a:t>
            </a:r>
            <a:r>
              <a:rPr lang="ko-KR" altLang="en-US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05-1 </a:t>
            </a:r>
            <a:r>
              <a:rPr lang="ko-KR" altLang="en-US" dirty="0"/>
              <a:t>필요한 데이터만 쏙 출력하는 </a:t>
            </a:r>
            <a:r>
              <a:rPr lang="en-US" altLang="ko-KR" dirty="0"/>
              <a:t>WHERE</a:t>
            </a:r>
            <a:r>
              <a:rPr lang="ko-KR" altLang="en-US" dirty="0"/>
              <a:t>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WHERE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548640" lvl="2" indent="0">
              <a:buNone/>
            </a:pPr>
            <a:r>
              <a:rPr lang="en-US" altLang="ko-KR" dirty="0"/>
              <a:t>SELECT * FROM EMP;  --</a:t>
            </a:r>
            <a:r>
              <a:rPr lang="ko-KR" altLang="en-US" dirty="0"/>
              <a:t>전체 행 조회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17" y="1844824"/>
            <a:ext cx="7403828" cy="16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5DBA3-CB54-35C9-F620-08CBFDD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05-1 </a:t>
            </a:r>
            <a:r>
              <a:rPr lang="ko-KR" altLang="en-US" dirty="0"/>
              <a:t>필요한 데이터만 쏙 출력하는 </a:t>
            </a:r>
            <a:r>
              <a:rPr lang="en-US" altLang="ko-KR" dirty="0"/>
              <a:t>WHERE</a:t>
            </a:r>
            <a:r>
              <a:rPr lang="ko-KR" altLang="en-US" dirty="0"/>
              <a:t>절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1E4F17E-0BD5-8409-CAB6-8F88419E7B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90600"/>
          </a:xfrm>
        </p:spPr>
        <p:txBody>
          <a:bodyPr/>
          <a:lstStyle/>
          <a:p>
            <a:r>
              <a:rPr lang="ko-KR" altLang="en-US" dirty="0"/>
              <a:t>부서 번호가 </a:t>
            </a:r>
            <a:r>
              <a:rPr lang="en-US" altLang="ko-KR" dirty="0"/>
              <a:t>30</a:t>
            </a:r>
            <a:r>
              <a:rPr lang="ko-KR" altLang="en-US" dirty="0"/>
              <a:t>인 데이터만 출력하기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5-2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4927877" cy="259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247039" y="4515707"/>
            <a:ext cx="2584599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조건식을 대입하여 결과가 참</a:t>
            </a:r>
            <a:r>
              <a:rPr lang="en-US" altLang="ko-KR" sz="1100" dirty="0">
                <a:solidFill>
                  <a:schemeClr val="tx1"/>
                </a:solidFill>
              </a:rPr>
              <a:t>(true)</a:t>
            </a:r>
            <a:r>
              <a:rPr lang="ko-KR" altLang="en-US" sz="1100" dirty="0">
                <a:solidFill>
                  <a:schemeClr val="tx1"/>
                </a:solidFill>
              </a:rPr>
              <a:t>인 데이터만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36EA3-B04C-D852-2422-3E128EDACA67}"/>
              </a:ext>
            </a:extLst>
          </p:cNvPr>
          <p:cNvSpPr txBox="1"/>
          <p:nvPr/>
        </p:nvSpPr>
        <p:spPr>
          <a:xfrm>
            <a:off x="432198" y="5519975"/>
            <a:ext cx="6530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『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r>
              <a:rPr lang="ko-KR" altLang="en-US" dirty="0"/>
              <a:t> 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』</a:t>
            </a:r>
          </a:p>
          <a:p>
            <a:r>
              <a:rPr lang="ko-KR" altLang="en-US" dirty="0"/>
              <a:t>  실습</a:t>
            </a:r>
            <a:r>
              <a:rPr lang="en-US" altLang="ko-KR" dirty="0"/>
              <a:t>5-2</a:t>
            </a:r>
            <a:r>
              <a:rPr lang="ko-KR" altLang="en-US" dirty="0"/>
              <a:t>를 참고하여 </a:t>
            </a:r>
            <a:r>
              <a:rPr lang="ko-KR" altLang="en-US" u="sng" dirty="0"/>
              <a:t>사원번호가 </a:t>
            </a:r>
            <a:r>
              <a:rPr lang="en-US" altLang="ko-KR" u="sng" dirty="0"/>
              <a:t>7782</a:t>
            </a:r>
            <a:r>
              <a:rPr lang="ko-KR" altLang="en-US" u="sng" dirty="0"/>
              <a:t>인 데이터를 </a:t>
            </a:r>
            <a:r>
              <a:rPr lang="ko-KR" altLang="en-US" u="sng" dirty="0" err="1"/>
              <a:t>출력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5FD3F3-72E6-71B2-408E-EDA50A8E5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166306"/>
            <a:ext cx="2160240" cy="6422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70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05-2 </a:t>
            </a:r>
            <a:r>
              <a:rPr lang="ko-KR" altLang="en-US" dirty="0"/>
              <a:t>여러 개 조건식을 사용하는 </a:t>
            </a:r>
            <a:br>
              <a:rPr lang="en-US" altLang="ko-KR" dirty="0"/>
            </a:br>
            <a:r>
              <a:rPr lang="en-US" altLang="ko-KR" dirty="0"/>
              <a:t>        AND, OR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AND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OR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16494"/>
          <a:stretch/>
        </p:blipFill>
        <p:spPr bwMode="auto">
          <a:xfrm>
            <a:off x="611560" y="1628800"/>
            <a:ext cx="7642995" cy="19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88" y="4134457"/>
            <a:ext cx="7662267" cy="195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879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AND </a:t>
            </a:r>
            <a:r>
              <a:rPr lang="ko-KR" altLang="en-US" dirty="0"/>
              <a:t>연산자로 여러 개 조건식 출력하기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5-3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OR </a:t>
            </a:r>
            <a:r>
              <a:rPr lang="ko-KR" altLang="en-US" dirty="0"/>
              <a:t>연산자로 여러 개 조건식 출력하기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5-4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275E9B2-8F8A-0222-B625-7C43D7422F9E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8229600" cy="990600"/>
          </a:xfrm>
          <a:prstGeom prst="rect">
            <a:avLst/>
          </a:prstGeom>
        </p:spPr>
        <p:txBody>
          <a:bodyPr vert="horz" anchor="b" anchorCtr="0">
            <a:normAutofit fontScale="97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05-2 </a:t>
            </a:r>
            <a:r>
              <a:rPr lang="ko-KR" altLang="en-US"/>
              <a:t>여러 개 조건식을 사용하는 </a:t>
            </a:r>
            <a:br>
              <a:rPr lang="en-US" altLang="ko-KR"/>
            </a:br>
            <a:r>
              <a:rPr lang="en-US" altLang="ko-KR"/>
              <a:t>        AND, OR </a:t>
            </a:r>
            <a:r>
              <a:rPr lang="ko-KR" altLang="en-US"/>
              <a:t>연산자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1699FD-C604-819B-3C3A-5A81C98D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672233"/>
            <a:ext cx="3768226" cy="182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6E5FFE-5BC7-CF4A-589C-F18DB3343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128" y="4065586"/>
            <a:ext cx="3455252" cy="22403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678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산술 연산자</a:t>
            </a:r>
            <a:endParaRPr lang="en-US" altLang="ko-KR" dirty="0"/>
          </a:p>
          <a:p>
            <a:pPr lvl="1"/>
            <a:r>
              <a:rPr lang="en-US" altLang="ko-KR" dirty="0"/>
              <a:t>+, -, *, /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5-5 : where</a:t>
            </a:r>
            <a:r>
              <a:rPr lang="ko-KR" altLang="en-US" dirty="0"/>
              <a:t>절에도 </a:t>
            </a:r>
            <a:r>
              <a:rPr lang="ko-KR" altLang="en-US" dirty="0" err="1"/>
              <a:t>사용가능하지만</a:t>
            </a:r>
            <a:r>
              <a:rPr lang="ko-KR" altLang="en-US" dirty="0"/>
              <a:t> 권장</a:t>
            </a:r>
            <a:r>
              <a:rPr lang="en-US" altLang="ko-KR" dirty="0"/>
              <a:t>X</a:t>
            </a:r>
          </a:p>
          <a:p>
            <a:endParaRPr lang="en-US" altLang="ko-KR" dirty="0"/>
          </a:p>
          <a:p>
            <a:r>
              <a:rPr lang="ko-KR" altLang="en-US" dirty="0"/>
              <a:t>비교 연산자</a:t>
            </a:r>
            <a:endParaRPr lang="en-US" altLang="ko-KR" dirty="0"/>
          </a:p>
          <a:p>
            <a:pPr lvl="1"/>
            <a:r>
              <a:rPr lang="ko-KR" altLang="en-US" dirty="0"/>
              <a:t>대소 비교 연산자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5-6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5-7</a:t>
            </a:r>
          </a:p>
          <a:p>
            <a:pPr marL="274320" lvl="1" indent="0">
              <a:buNone/>
            </a:pPr>
            <a:endParaRPr lang="en-US" altLang="ko-K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36" y="3686226"/>
            <a:ext cx="7776864" cy="1951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CC702A-5765-0ECE-6A7B-D3DC4FAAC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1219200"/>
            <a:ext cx="1949876" cy="990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19F885-14F9-CB09-150F-4B726BC83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2785366"/>
            <a:ext cx="2304256" cy="906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188802-DB1E-B7D6-5222-78A86483A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744" y="5724163"/>
            <a:ext cx="1426848" cy="9439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903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비교 연산자</a:t>
            </a:r>
            <a:endParaRPr lang="en-US" altLang="ko-KR" dirty="0"/>
          </a:p>
          <a:p>
            <a:pPr lvl="1"/>
            <a:r>
              <a:rPr lang="ko-KR" altLang="en-US" dirty="0"/>
              <a:t>등가 비교 연산자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/>
              <a:t>실습 </a:t>
            </a:r>
            <a:r>
              <a:rPr lang="en-US" altLang="ko-KR"/>
              <a:t>5-8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5-9 (&lt;&gt;, ^=</a:t>
            </a:r>
            <a:r>
              <a:rPr lang="ko-KR" altLang="en-US" dirty="0"/>
              <a:t>도 동일</a:t>
            </a:r>
            <a:r>
              <a:rPr lang="en-US" altLang="ko-KR" dirty="0"/>
              <a:t>)</a:t>
            </a:r>
          </a:p>
          <a:p>
            <a:pPr marL="27432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0848"/>
            <a:ext cx="7920879" cy="2016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074AD3-DFF1-8D6E-B23C-76E79148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259" y="4077071"/>
            <a:ext cx="1993165" cy="9651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8EFF0B-3BCE-25A0-F3BF-0F89BC756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5476517"/>
            <a:ext cx="1800200" cy="13117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A263D-1A62-70A1-4C98-19222EFDA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32" y="5448633"/>
            <a:ext cx="1846813" cy="13674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D6DE9D-15FD-90D5-5666-16FBCB151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677" y="5367476"/>
            <a:ext cx="1846814" cy="13913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53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논리 부정 연산자</a:t>
            </a:r>
            <a:endParaRPr lang="en-US" altLang="ko-KR" dirty="0"/>
          </a:p>
          <a:p>
            <a:pPr lvl="1"/>
            <a:r>
              <a:rPr lang="en-US" altLang="ko-KR" dirty="0"/>
              <a:t>NOT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5-12</a:t>
            </a:r>
          </a:p>
          <a:p>
            <a:endParaRPr lang="en-US" altLang="ko-KR" dirty="0"/>
          </a:p>
          <a:p>
            <a:r>
              <a:rPr lang="en-US" altLang="ko-KR" dirty="0"/>
              <a:t>IN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5-13 (OR</a:t>
            </a:r>
            <a:r>
              <a:rPr lang="ko-KR" altLang="en-US" dirty="0"/>
              <a:t>연산자와 비교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5-14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365104"/>
            <a:ext cx="7632847" cy="157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81B4E2-9D58-7217-6F95-E83A2B90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1678969"/>
            <a:ext cx="1555031" cy="11625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8F4806-2A0C-9257-CEB6-DC76A7423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2938472"/>
            <a:ext cx="1737713" cy="13504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FFC27F-ED74-C2B1-756F-BCE0C9B6F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051" y="2938472"/>
            <a:ext cx="1881749" cy="13504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95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6DEFD-E3F2-FAEA-AE7C-5E06F845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9854E-2FD8-50D5-5F82-9B404F4D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12D01-E838-4017-47F2-1F78EF7C7D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NOT</a:t>
            </a:r>
            <a:r>
              <a:rPr lang="en-US" altLang="ko-KR" dirty="0"/>
              <a:t> IN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5-15 (AND</a:t>
            </a:r>
            <a:r>
              <a:rPr lang="ko-KR" altLang="en-US" dirty="0"/>
              <a:t>연산자와 비교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5-16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4C67B-EAE3-F800-3D26-126710793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8900"/>
            <a:ext cx="3897954" cy="18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E9DE58-C9A3-F1C3-5A53-6BEADDF6F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004" y="4375121"/>
            <a:ext cx="4810796" cy="18290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4021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BETWEEN A AND B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5-17 : </a:t>
            </a:r>
          </a:p>
          <a:p>
            <a:pPr marL="274320" lvl="1" indent="0">
              <a:buNone/>
            </a:pPr>
            <a:r>
              <a:rPr lang="en-US" altLang="ko-KR" sz="2000" dirty="0"/>
              <a:t>   BETWEEN a AND b (</a:t>
            </a:r>
            <a:r>
              <a:rPr lang="ko-KR" altLang="en-US" sz="2000" dirty="0"/>
              <a:t>대소 비교 연산자와 </a:t>
            </a:r>
            <a:r>
              <a:rPr lang="en-US" altLang="ko-KR" sz="2000" dirty="0"/>
              <a:t>AND</a:t>
            </a:r>
            <a:r>
              <a:rPr lang="ko-KR" altLang="en-US" sz="2000" dirty="0"/>
              <a:t>연산자와 비교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5-18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5-19 :</a:t>
            </a:r>
          </a:p>
          <a:p>
            <a:pPr marL="274320" lvl="1" indent="0">
              <a:buNone/>
            </a:pPr>
            <a:r>
              <a:rPr lang="en-US" altLang="ko-KR" sz="2000" dirty="0"/>
              <a:t>   NOT BETWEEN a AND b(</a:t>
            </a:r>
            <a:r>
              <a:rPr lang="ko-KR" altLang="en-US" sz="2000" dirty="0"/>
              <a:t>대소 비교 연산자와 </a:t>
            </a:r>
            <a:r>
              <a:rPr lang="en-US" altLang="ko-KR" sz="2000" dirty="0"/>
              <a:t>OR</a:t>
            </a:r>
            <a:r>
              <a:rPr lang="ko-KR" altLang="en-US" sz="2000" dirty="0"/>
              <a:t>연산자와 비교</a:t>
            </a:r>
            <a:r>
              <a:rPr lang="en-US" altLang="ko-KR" sz="2000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62" y="1844824"/>
            <a:ext cx="7694161" cy="157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B438BF-DE40-FAE3-D09C-9A28A48C3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325495"/>
            <a:ext cx="1363944" cy="720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CBD337-0147-E900-77DC-6EE02BB73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64" y="4398460"/>
            <a:ext cx="1770120" cy="803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D1E4015-6C2F-CA6C-B548-6F31B45DE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91" y="5570928"/>
            <a:ext cx="1721799" cy="1134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359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B2B6-A90A-3577-595F-3FDC8416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F42F9-FD0D-E069-7346-E20059AA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99C574-7432-E290-0BB5-5E3DDF46B2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LIKE </a:t>
            </a:r>
            <a:r>
              <a:rPr lang="ko-KR" altLang="en-US" dirty="0"/>
              <a:t>연산자와 와일드 카드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5-20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5-21 : </a:t>
            </a:r>
            <a:r>
              <a:rPr lang="ko-KR" altLang="en-US" dirty="0"/>
              <a:t>사원이름의 두번째 글자가 </a:t>
            </a:r>
            <a:r>
              <a:rPr lang="en-US" altLang="ko-KR" dirty="0"/>
              <a:t>L</a:t>
            </a:r>
            <a:r>
              <a:rPr lang="ko-KR" altLang="en-US" dirty="0"/>
              <a:t>인 사원 출력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5-22 : </a:t>
            </a:r>
            <a:r>
              <a:rPr lang="ko-KR" altLang="en-US" dirty="0"/>
              <a:t>사원이름에 </a:t>
            </a:r>
            <a:r>
              <a:rPr lang="en-US" altLang="ko-KR" dirty="0"/>
              <a:t>AM</a:t>
            </a:r>
            <a:r>
              <a:rPr lang="ko-KR" altLang="en-US" dirty="0"/>
              <a:t>이 포함되어 있는 사원 출력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5-23 : </a:t>
            </a:r>
            <a:r>
              <a:rPr lang="ko-KR" altLang="en-US" dirty="0"/>
              <a:t>사원이름에 </a:t>
            </a:r>
            <a:r>
              <a:rPr lang="en-US" altLang="ko-KR" dirty="0"/>
              <a:t>AM</a:t>
            </a:r>
            <a:r>
              <a:rPr lang="ko-KR" altLang="en-US" dirty="0"/>
              <a:t>이 포함되지 않은 사원 출력</a:t>
            </a:r>
            <a:endParaRPr lang="en-US" altLang="ko-KR" dirty="0"/>
          </a:p>
          <a:p>
            <a:pPr marL="27432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80EE58AF-331C-7CDC-A595-EA4C194E3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7992888" cy="1877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C44494C-4F49-71E6-EA3B-CCA14483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377867"/>
            <a:ext cx="1071750" cy="633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12CC8C-9E90-A585-7E74-C646A76A8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893" y="5587978"/>
            <a:ext cx="2602930" cy="9961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091EB6-E9D1-5DDC-B234-6567C27D7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6" y="5229200"/>
            <a:ext cx="2043468" cy="1483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C1E9813-C1FE-16B1-6DCD-1DDB354BA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43" y="5390720"/>
            <a:ext cx="2480607" cy="11240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002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/>
          <a:lstStyle/>
          <a:p>
            <a:r>
              <a:rPr lang="en-US" altLang="ko-KR" dirty="0"/>
              <a:t>IS NULL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en-US" altLang="ko-KR" dirty="0"/>
              <a:t>NULL : </a:t>
            </a:r>
            <a:r>
              <a:rPr lang="ko-KR" altLang="en-US" dirty="0"/>
              <a:t>데이터 값이 존재하지 않는 상태</a:t>
            </a:r>
            <a:endParaRPr lang="en-US" altLang="ko-KR" dirty="0"/>
          </a:p>
          <a:p>
            <a:pPr lvl="2"/>
            <a:r>
              <a:rPr lang="ko-KR" altLang="en-US" dirty="0"/>
              <a:t>실습</a:t>
            </a:r>
            <a:r>
              <a:rPr lang="en-US" altLang="ko-KR" dirty="0"/>
              <a:t>5-25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일반 연산자의 사용이 무의미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IS NULL : </a:t>
            </a:r>
            <a:r>
              <a:rPr lang="ko-KR" altLang="en-US" dirty="0"/>
              <a:t>대상 데이터가 </a:t>
            </a:r>
            <a:r>
              <a:rPr lang="en-US" altLang="ko-KR" dirty="0"/>
              <a:t>NULL</a:t>
            </a:r>
            <a:r>
              <a:rPr lang="ko-KR" altLang="en-US" dirty="0"/>
              <a:t>일 때 </a:t>
            </a:r>
            <a:r>
              <a:rPr lang="en-US" altLang="ko-KR" dirty="0"/>
              <a:t>true</a:t>
            </a:r>
          </a:p>
          <a:p>
            <a:pPr lvl="1"/>
            <a:r>
              <a:rPr lang="en-US" altLang="ko-KR" dirty="0"/>
              <a:t>IS NOT NULL : </a:t>
            </a:r>
            <a:r>
              <a:rPr lang="ko-KR" altLang="en-US" dirty="0"/>
              <a:t>대상 데이터가 </a:t>
            </a:r>
            <a:r>
              <a:rPr lang="en-US" altLang="ko-KR" dirty="0"/>
              <a:t>NULL</a:t>
            </a:r>
            <a:r>
              <a:rPr lang="ko-KR" altLang="en-US" dirty="0"/>
              <a:t>이 아닐 때 </a:t>
            </a:r>
            <a:r>
              <a:rPr lang="en-US" altLang="ko-KR" dirty="0"/>
              <a:t>true</a:t>
            </a:r>
          </a:p>
          <a:p>
            <a:pPr lvl="2"/>
            <a:r>
              <a:rPr lang="ko-KR" altLang="en-US"/>
              <a:t>실습 </a:t>
            </a:r>
            <a:r>
              <a:rPr lang="en-US" altLang="ko-KR"/>
              <a:t>5-26 : </a:t>
            </a:r>
            <a:r>
              <a:rPr lang="ko-KR" altLang="en-US"/>
              <a:t>커미션이 없는 사원만 출력</a:t>
            </a:r>
            <a:endParaRPr lang="en-US" altLang="ko-KR" dirty="0"/>
          </a:p>
          <a:p>
            <a:pPr lvl="2"/>
            <a:r>
              <a:rPr lang="ko-KR" altLang="en-US"/>
              <a:t>실습 </a:t>
            </a:r>
            <a:r>
              <a:rPr lang="en-US" altLang="ko-KR"/>
              <a:t>5-27 : </a:t>
            </a:r>
            <a:r>
              <a:rPr lang="ko-KR" altLang="en-US"/>
              <a:t>직속 상관이 있는 사원만 출력</a:t>
            </a:r>
            <a:endParaRPr lang="en-US" altLang="ko-K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4867"/>
          <a:stretch/>
        </p:blipFill>
        <p:spPr bwMode="auto">
          <a:xfrm>
            <a:off x="5364088" y="2541332"/>
            <a:ext cx="3096000" cy="17753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45D9F9-D2A8-6C1F-2231-397C11412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47" y="3396420"/>
            <a:ext cx="3457218" cy="1131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6941C9-4DF6-75B9-07E6-E88C65F5E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5373216"/>
            <a:ext cx="1708573" cy="1064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2CEB39-C90F-8EA3-F333-E83316E8D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331" y="6030620"/>
            <a:ext cx="1708573" cy="827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846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05-3 </a:t>
            </a:r>
            <a:r>
              <a:rPr lang="ko-KR" altLang="en-US"/>
              <a:t>연산자 종류와 활용 방법 알아보기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3413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집합 연산자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UNION : </a:t>
            </a:r>
            <a:r>
              <a:rPr lang="ko-KR" altLang="en-US" dirty="0"/>
              <a:t>중복이 제거되는 합집합</a:t>
            </a:r>
            <a:r>
              <a:rPr lang="en-US" altLang="ko-KR" sz="1900" dirty="0"/>
              <a:t>(</a:t>
            </a:r>
            <a:r>
              <a:rPr lang="ko-KR" altLang="en-US" sz="1900" dirty="0" err="1"/>
              <a:t>출력열개수와</a:t>
            </a:r>
            <a:r>
              <a:rPr lang="ko-KR" altLang="en-US" sz="1900" dirty="0"/>
              <a:t> 자료형이 </a:t>
            </a:r>
            <a:r>
              <a:rPr lang="ko-KR" altLang="en-US" sz="1900" dirty="0" err="1"/>
              <a:t>같아야함</a:t>
            </a:r>
            <a:r>
              <a:rPr lang="en-US" altLang="ko-KR" sz="1900" dirty="0"/>
              <a:t>)</a:t>
            </a:r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5-30 :</a:t>
            </a:r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5-31 : </a:t>
            </a:r>
            <a:r>
              <a:rPr lang="ko-KR" altLang="en-US" dirty="0"/>
              <a:t>열의 개수가 달라서 오류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5-32 :  </a:t>
            </a:r>
            <a:r>
              <a:rPr lang="ko-KR" altLang="en-US" dirty="0"/>
              <a:t>출력 열의 자료형이 달라서 오류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5-33 : </a:t>
            </a:r>
            <a:r>
              <a:rPr lang="ko-KR" altLang="en-US" dirty="0"/>
              <a:t>열이름이 달라도 열개수와 자료형이 같으면 오류가 아님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UNION ALL : </a:t>
            </a:r>
            <a:r>
              <a:rPr lang="ko-KR" altLang="en-US" dirty="0"/>
              <a:t>중복을 허용하는 합집합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5-35(UNION</a:t>
            </a:r>
            <a:r>
              <a:rPr lang="ko-KR" altLang="en-US" dirty="0"/>
              <a:t>과 비교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MINUS : </a:t>
            </a:r>
            <a:r>
              <a:rPr lang="ko-KR" altLang="en-US" dirty="0" err="1"/>
              <a:t>차집함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5-36</a:t>
            </a:r>
          </a:p>
          <a:p>
            <a:pPr lvl="1"/>
            <a:r>
              <a:rPr lang="en-US" altLang="ko-KR" dirty="0"/>
              <a:t>INTERSECT : </a:t>
            </a:r>
            <a:r>
              <a:rPr lang="ko-KR" altLang="en-US" dirty="0"/>
              <a:t>교집합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5-37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5F45C5-C778-44DD-803B-83A0AF49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127776"/>
            <a:ext cx="656475" cy="815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9BA117-2DB1-2794-E3D4-12E09E27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724" y="6035676"/>
            <a:ext cx="810577" cy="8223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D11420-44A0-82E3-ADB0-A40815186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771" y="4808687"/>
            <a:ext cx="571059" cy="822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BD1E075-C642-EA42-07AF-53E945D62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486" y="4326183"/>
            <a:ext cx="750260" cy="965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8D41A3A-7CF2-89AB-EBE4-ABE4F6DCC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440" y="3212976"/>
            <a:ext cx="611560" cy="774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0F7ED62-14D7-1426-9652-0B70413A14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680" y="2540195"/>
            <a:ext cx="916019" cy="777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C892B4B-F801-0531-41C5-399C576F61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0072" y="2348880"/>
            <a:ext cx="683125" cy="6099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10534D-5737-E794-8A65-D9D5491289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776" y="2276700"/>
            <a:ext cx="282860" cy="3771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2154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DC3F6-DB03-4179-4004-3F8F9F32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/>
          <a:lstStyle/>
          <a:p>
            <a:r>
              <a:rPr lang="ko-KR" altLang="en-US"/>
              <a:t>연습문제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0ADB4-67F9-C999-8293-3AF347E0CA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395" y="960120"/>
            <a:ext cx="8229600" cy="493776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2314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647</TotalTime>
  <Words>417</Words>
  <Application>Microsoft Office PowerPoint</Application>
  <PresentationFormat>화면 슬라이드 쇼(4:3)</PresentationFormat>
  <Paragraphs>146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Batang</vt:lpstr>
      <vt:lpstr>Bookman Old Style</vt:lpstr>
      <vt:lpstr>Gill Sans MT</vt:lpstr>
      <vt:lpstr>Wingdings</vt:lpstr>
      <vt:lpstr>Wingdings 3</vt:lpstr>
      <vt:lpstr>원본</vt:lpstr>
      <vt:lpstr>Chap05. 더 정확하고 다양하게 결과를 출력하는 WHERE절과 연산자</vt:lpstr>
      <vt:lpstr>05-1 필요한 데이터만 쏙 출력하는 WHERE절</vt:lpstr>
      <vt:lpstr>05-1 필요한 데이터만 쏙 출력하는 WHERE절</vt:lpstr>
      <vt:lpstr>05-2 여러 개 조건식을 사용하는          AND, OR 연산자</vt:lpstr>
      <vt:lpstr>PowerPoint 프레젠테이션</vt:lpstr>
      <vt:lpstr>05-3 연산자 종류와 활용 방법 알아보기</vt:lpstr>
      <vt:lpstr>05-3 연산자 종류와 활용 방법 알아보기</vt:lpstr>
      <vt:lpstr>05-3 연산자 종류와 활용 방법 알아보기</vt:lpstr>
      <vt:lpstr>05-3 연산자 종류와 활용 방법 알아보기</vt:lpstr>
      <vt:lpstr>05-3 연산자 종류와 활용 방법 알아보기</vt:lpstr>
      <vt:lpstr>05-3 연산자 종류와 활용 방법 알아보기</vt:lpstr>
      <vt:lpstr>05-3 연산자 종류와 활용 방법 알아보기</vt:lpstr>
      <vt:lpstr>05-3 연산자 종류와 활용 방법 알아보기</vt:lpstr>
      <vt:lpstr>연습문제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89</cp:revision>
  <dcterms:created xsi:type="dcterms:W3CDTF">2006-10-05T04:04:58Z</dcterms:created>
  <dcterms:modified xsi:type="dcterms:W3CDTF">2026-03-21T06:27:10Z</dcterms:modified>
</cp:coreProperties>
</file>