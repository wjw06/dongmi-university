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96" y="6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BFF78-EF39-4946-8415-1B9954908DF1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E1CBFB-901C-48D3-AD27-D163F02FD0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1768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--1. PLAYER </a:t>
            </a:r>
            <a:r>
              <a:rPr lang="ko-KR" altLang="en-US"/>
              <a:t>테이블에서 키가 가장 큰 선수의 이름과 키를 출력</a:t>
            </a:r>
          </a:p>
          <a:p>
            <a:endParaRPr lang="ko-KR" altLang="en-US"/>
          </a:p>
          <a:p>
            <a:r>
              <a:rPr lang="en-US" altLang="ko-KR"/>
              <a:t>--2. PLAYER </a:t>
            </a:r>
            <a:r>
              <a:rPr lang="ko-KR" altLang="en-US"/>
              <a:t>테이블에서 팀코드가 </a:t>
            </a:r>
            <a:r>
              <a:rPr lang="en-US" altLang="ko-KR"/>
              <a:t>K04</a:t>
            </a:r>
            <a:r>
              <a:rPr lang="ko-KR" altLang="en-US"/>
              <a:t>인 선수가 몇명인지 출력</a:t>
            </a:r>
          </a:p>
          <a:p>
            <a:endParaRPr lang="ko-KR" altLang="en-US"/>
          </a:p>
          <a:p>
            <a:r>
              <a:rPr lang="en-US" altLang="ko-KR"/>
              <a:t>--3. PLAYER </a:t>
            </a:r>
            <a:r>
              <a:rPr lang="ko-KR" altLang="en-US"/>
              <a:t>테이블에서 키가 가장 큰 선수가 누구인지 이름과 키를 출력</a:t>
            </a:r>
          </a:p>
          <a:p>
            <a:endParaRPr lang="ko-KR" altLang="en-US"/>
          </a:p>
          <a:p>
            <a:r>
              <a:rPr lang="en-US" altLang="ko-KR"/>
              <a:t>--4. PLAYER </a:t>
            </a:r>
            <a:r>
              <a:rPr lang="ko-KR" altLang="en-US"/>
              <a:t>테이블에서 키가 가장 작은 선수가 누구인지 이름과 키를 출력</a:t>
            </a:r>
          </a:p>
          <a:p>
            <a:endParaRPr lang="ko-KR" altLang="en-US"/>
          </a:p>
          <a:p>
            <a:r>
              <a:rPr lang="en-US" altLang="ko-KR"/>
              <a:t>--5. PLAYER </a:t>
            </a:r>
            <a:r>
              <a:rPr lang="ko-KR" altLang="en-US"/>
              <a:t>테이블에서 선수들의 평균카가 얼마인지 출력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E1CBFB-901C-48D3-AD27-D163F02FD00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7237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9" name="부제목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ko-KR" altLang="en-US"/>
              <a:t>마스터 부제목 스타일 편집</a:t>
            </a:r>
            <a:endParaRPr kumimoji="0" lang="en-US"/>
          </a:p>
        </p:txBody>
      </p:sp>
      <p:sp>
        <p:nvSpPr>
          <p:cNvPr id="28" name="날짜 개체 틀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FB30EDBD-1C2D-4C1E-B459-B60219FAB484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직사각형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직사각형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직사각형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FB30EDBD-1C2D-4C1E-B459-B60219FAB484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이등변 삼각형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선 연결선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이등변 삼각형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선 연결선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직선 연결선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이등변 삼각형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내용 개체 틀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ko-KR" altLang="en-US"/>
              <a:t>그림을 추가하려면 아이콘을 클릭하십시오</a:t>
            </a:r>
            <a:endParaRPr kumimoji="0" 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선 연결선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이등변 삼각형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선 연결선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이등변 삼각형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선 연결선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/>
              <a:t>둘째 수준</a:t>
            </a:r>
          </a:p>
          <a:p>
            <a:pPr lvl="2" eaLnBrk="1" latinLnBrk="0" hangingPunct="1"/>
            <a:r>
              <a:rPr kumimoji="0" lang="ko-KR" altLang="en-US"/>
              <a:t>셋째 수준</a:t>
            </a:r>
          </a:p>
          <a:p>
            <a:pPr lvl="3" eaLnBrk="1" latinLnBrk="0" hangingPunct="1"/>
            <a:r>
              <a:rPr kumimoji="0" lang="ko-KR" altLang="en-US"/>
              <a:t>넷째 수준</a:t>
            </a:r>
          </a:p>
          <a:p>
            <a:pPr lvl="4" eaLnBrk="1" latinLnBrk="0" hangingPunct="1"/>
            <a:r>
              <a:rPr kumimoji="0" lang="ko-KR" altLang="en-US"/>
              <a:t>다섯째 수준</a:t>
            </a:r>
            <a:endParaRPr kumimoji="0" lang="en-US"/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8" name="직선 연결선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직선 연결선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이등변 삼각형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rtl="0" eaLnBrk="1" latinLnBrk="1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1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1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1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1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1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1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1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1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1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Chap07. </a:t>
            </a:r>
            <a:r>
              <a:rPr lang="ko-KR" altLang="en-US"/>
              <a:t>다중행 함수와 데이터 그룹화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4008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07-1 </a:t>
            </a:r>
            <a:r>
              <a:rPr lang="ko-KR" altLang="en-US" dirty="0"/>
              <a:t>하나의 열에 출력 결과를 담는 </a:t>
            </a:r>
            <a:r>
              <a:rPr lang="ko-KR" altLang="en-US" dirty="0" err="1"/>
              <a:t>다중행</a:t>
            </a:r>
            <a:r>
              <a:rPr lang="ko-KR" altLang="en-US" dirty="0"/>
              <a:t>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SUM</a:t>
            </a:r>
            <a:r>
              <a:rPr lang="en-US" altLang="ko-KR" dirty="0"/>
              <a:t> : </a:t>
            </a:r>
            <a:r>
              <a:rPr lang="ko-KR" altLang="en-US" dirty="0"/>
              <a:t>합계</a:t>
            </a:r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7-1, </a:t>
            </a:r>
            <a:r>
              <a:rPr lang="ko-KR" altLang="en-US" dirty="0"/>
              <a:t>실습 </a:t>
            </a:r>
            <a:r>
              <a:rPr lang="en-US" altLang="ko-KR" dirty="0"/>
              <a:t>7-2,</a:t>
            </a:r>
            <a:r>
              <a:rPr lang="ko-KR" altLang="en-US" dirty="0"/>
              <a:t> 실습 </a:t>
            </a:r>
            <a:r>
              <a:rPr lang="en-US" altLang="ko-KR" dirty="0"/>
              <a:t>7-3</a:t>
            </a:r>
          </a:p>
          <a:p>
            <a:endParaRPr lang="en-US" altLang="ko-KR" dirty="0"/>
          </a:p>
          <a:p>
            <a:r>
              <a:rPr lang="en-US" altLang="ko-KR" dirty="0">
                <a:solidFill>
                  <a:srgbClr val="FF0000"/>
                </a:solidFill>
              </a:rPr>
              <a:t>COUNT</a:t>
            </a:r>
            <a:r>
              <a:rPr lang="en-US" altLang="ko-KR" dirty="0"/>
              <a:t> : </a:t>
            </a:r>
            <a:r>
              <a:rPr lang="ko-KR" altLang="en-US" dirty="0"/>
              <a:t>데이터 개수</a:t>
            </a:r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7-5, </a:t>
            </a:r>
            <a:r>
              <a:rPr lang="ko-KR" altLang="en-US" dirty="0"/>
              <a:t>실습 </a:t>
            </a:r>
            <a:r>
              <a:rPr lang="en-US" altLang="ko-KR" dirty="0"/>
              <a:t>7-6, </a:t>
            </a:r>
            <a:r>
              <a:rPr lang="ko-KR" altLang="en-US" dirty="0"/>
              <a:t>실습 </a:t>
            </a:r>
            <a:r>
              <a:rPr lang="en-US" altLang="ko-KR" dirty="0"/>
              <a:t>7-8, </a:t>
            </a:r>
            <a:r>
              <a:rPr lang="ko-KR" altLang="en-US" dirty="0"/>
              <a:t>실습 </a:t>
            </a:r>
            <a:r>
              <a:rPr lang="en-US" altLang="ko-KR" dirty="0"/>
              <a:t>7-9</a:t>
            </a:r>
          </a:p>
          <a:p>
            <a:endParaRPr lang="en-US" altLang="ko-KR" dirty="0"/>
          </a:p>
          <a:p>
            <a:r>
              <a:rPr lang="en-US" altLang="ko-KR" dirty="0">
                <a:solidFill>
                  <a:srgbClr val="FF0000"/>
                </a:solidFill>
              </a:rPr>
              <a:t>MAX</a:t>
            </a:r>
            <a:r>
              <a:rPr lang="en-US" altLang="ko-KR" dirty="0"/>
              <a:t> : </a:t>
            </a:r>
            <a:r>
              <a:rPr lang="ko-KR" altLang="en-US" dirty="0"/>
              <a:t>최댓값</a:t>
            </a:r>
            <a:endParaRPr lang="en-US" altLang="ko-KR" dirty="0"/>
          </a:p>
          <a:p>
            <a:r>
              <a:rPr lang="ko-KR" altLang="en-US" dirty="0"/>
              <a:t>실습 </a:t>
            </a:r>
            <a:r>
              <a:rPr lang="en-US" altLang="ko-KR" dirty="0"/>
              <a:t>7-10,</a:t>
            </a:r>
            <a:r>
              <a:rPr lang="ko-KR" altLang="en-US" dirty="0"/>
              <a:t> 실습 </a:t>
            </a:r>
            <a:r>
              <a:rPr lang="en-US" altLang="ko-KR" dirty="0"/>
              <a:t>7-12(</a:t>
            </a:r>
            <a:r>
              <a:rPr lang="ko-KR" altLang="en-US" dirty="0"/>
              <a:t>날짜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>
                <a:solidFill>
                  <a:srgbClr val="FF0000"/>
                </a:solidFill>
              </a:rPr>
              <a:t>MIN</a:t>
            </a:r>
            <a:r>
              <a:rPr lang="en-US" altLang="ko-KR" dirty="0"/>
              <a:t> : </a:t>
            </a:r>
            <a:r>
              <a:rPr lang="ko-KR" altLang="en-US" dirty="0"/>
              <a:t>최솟값</a:t>
            </a:r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7-11,</a:t>
            </a:r>
            <a:r>
              <a:rPr lang="ko-KR" altLang="en-US" dirty="0"/>
              <a:t> 실습 </a:t>
            </a:r>
            <a:r>
              <a:rPr lang="en-US" altLang="ko-KR" dirty="0"/>
              <a:t>7-13(</a:t>
            </a:r>
            <a:r>
              <a:rPr lang="ko-KR" altLang="en-US" dirty="0"/>
              <a:t>날짜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>
                <a:solidFill>
                  <a:srgbClr val="FF0000"/>
                </a:solidFill>
              </a:rPr>
              <a:t>AVG</a:t>
            </a:r>
            <a:r>
              <a:rPr lang="en-US" altLang="ko-KR" dirty="0"/>
              <a:t> : </a:t>
            </a:r>
            <a:r>
              <a:rPr lang="ko-KR" altLang="en-US" dirty="0"/>
              <a:t>평균값</a:t>
            </a:r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7-14</a:t>
            </a:r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D7A46C4-3985-F2D9-F522-C86E87BF87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6136" y="1437627"/>
            <a:ext cx="3138524" cy="225045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AE1523A-B40B-B245-2BD7-91EFFD8A6E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640" y="1815122"/>
            <a:ext cx="429786" cy="43204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E989829-D456-8EE9-F564-DF1D2B1B66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5736" y="1844824"/>
            <a:ext cx="697640" cy="3726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093C17B-BB75-1FC1-D24C-85A1D208FD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7686" y="1855725"/>
            <a:ext cx="569269" cy="3589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DE585F1-2235-D9A4-2BBD-1DF3B32792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932" y="2843092"/>
            <a:ext cx="581649" cy="37391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3CBB4BD-66E0-24A5-7DB6-2FEA53F032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91788" y="2843092"/>
            <a:ext cx="469319" cy="4028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0A1F8020-51CA-3799-289D-A229E4AB662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60438" y="2855807"/>
            <a:ext cx="881441" cy="4815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5756993-F41E-A13A-2D45-082F829AFB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39984" y="2855807"/>
            <a:ext cx="766820" cy="4815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A66D3483-A321-01B1-3C5E-7B73EA03EA5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52677" y="3857579"/>
            <a:ext cx="351533" cy="36760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4A8E946A-A855-D560-B218-E7FA31B1A2E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01979" y="3926271"/>
            <a:ext cx="697639" cy="4275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9F1AA1A8-E30D-AA33-85BF-A2EE6D0740F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8443" y="4865752"/>
            <a:ext cx="318819" cy="3314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A8888E11-5670-3A1B-C043-00B66106C17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44556" y="4877383"/>
            <a:ext cx="588546" cy="36760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87356F63-60FC-C9AB-804F-44116290ED3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59459" y="5873925"/>
            <a:ext cx="775605" cy="43882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55779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07-2 </a:t>
            </a:r>
            <a:r>
              <a:rPr lang="ko-KR" altLang="en-US"/>
              <a:t>결과 값을 원하는 열로 묶어 출력하는</a:t>
            </a:r>
            <a:br>
              <a:rPr lang="en-US" altLang="ko-KR"/>
            </a:br>
            <a:r>
              <a:rPr lang="en-US" altLang="ko-KR"/>
              <a:t>        GROUP BY </a:t>
            </a:r>
            <a:r>
              <a:rPr lang="ko-KR" altLang="en-US"/>
              <a:t>절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378152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GROUP BY</a:t>
            </a:r>
            <a:r>
              <a:rPr lang="en-US" altLang="ko-KR" dirty="0"/>
              <a:t> </a:t>
            </a:r>
            <a:r>
              <a:rPr lang="ko-KR" altLang="en-US" dirty="0"/>
              <a:t>절의 기본 사용법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7-17, </a:t>
            </a:r>
            <a:r>
              <a:rPr lang="ko-KR" altLang="en-US" dirty="0"/>
              <a:t>실습 </a:t>
            </a:r>
            <a:r>
              <a:rPr lang="en-US" altLang="ko-KR" dirty="0"/>
              <a:t>7-18</a:t>
            </a:r>
          </a:p>
          <a:p>
            <a:endParaRPr lang="en-US" altLang="ko-KR" dirty="0"/>
          </a:p>
          <a:p>
            <a:r>
              <a:rPr lang="en-US" altLang="ko-KR" dirty="0">
                <a:solidFill>
                  <a:srgbClr val="FF0000"/>
                </a:solidFill>
              </a:rPr>
              <a:t>GROUP BY</a:t>
            </a:r>
            <a:r>
              <a:rPr lang="ko-KR" altLang="en-US" dirty="0">
                <a:solidFill>
                  <a:srgbClr val="FF0000"/>
                </a:solidFill>
              </a:rPr>
              <a:t>절을 사용할 때 유의점</a:t>
            </a:r>
            <a:endParaRPr lang="en-US" altLang="ko-KR" dirty="0">
              <a:solidFill>
                <a:srgbClr val="FF0000"/>
              </a:solidFill>
            </a:endParaRPr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7-19</a:t>
            </a:r>
            <a:endParaRPr lang="en-US" altLang="ko-KR" dirty="0">
              <a:solidFill>
                <a:srgbClr val="FF0000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895830"/>
            <a:ext cx="7632848" cy="2491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8D67210-162B-2FB7-B455-6948BFE19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4941168"/>
            <a:ext cx="912191" cy="54684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5FF2EBA-8E3E-E5A7-0F27-34A39C1F01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9912" y="4528320"/>
            <a:ext cx="648072" cy="9349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E7672D5-2E0E-9FC2-425B-B45CB60D51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1760" y="6028627"/>
            <a:ext cx="1550985" cy="70999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37699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07-3 GROUP BY</a:t>
            </a:r>
            <a:r>
              <a:rPr lang="ko-KR" altLang="en-US"/>
              <a:t>절에 조건을 줄 때 사용하는</a:t>
            </a:r>
            <a:br>
              <a:rPr lang="en-US" altLang="ko-KR"/>
            </a:br>
            <a:r>
              <a:rPr lang="en-US" altLang="ko-KR"/>
              <a:t>        HAVING</a:t>
            </a:r>
            <a:r>
              <a:rPr lang="ko-KR" altLang="en-US"/>
              <a:t>절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638800"/>
          </a:xfrm>
        </p:spPr>
        <p:txBody>
          <a:bodyPr>
            <a:normAutofit/>
          </a:bodyPr>
          <a:lstStyle/>
          <a:p>
            <a:r>
              <a:rPr lang="en-US" altLang="ko-KR" dirty="0"/>
              <a:t>HAVING </a:t>
            </a:r>
            <a:r>
              <a:rPr lang="ko-KR" altLang="en-US" dirty="0"/>
              <a:t>절의 기본 사용법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7-20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/>
              <a:t>HAVING</a:t>
            </a:r>
            <a:r>
              <a:rPr lang="ko-KR" altLang="en-US" dirty="0"/>
              <a:t>절을 사용할 때 유의점</a:t>
            </a:r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7-21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WHERE</a:t>
            </a:r>
            <a:r>
              <a:rPr lang="ko-KR" altLang="en-US" dirty="0">
                <a:solidFill>
                  <a:srgbClr val="FF0000"/>
                </a:solidFill>
              </a:rPr>
              <a:t>절과 </a:t>
            </a:r>
            <a:r>
              <a:rPr lang="en-US" altLang="ko-KR" dirty="0">
                <a:solidFill>
                  <a:srgbClr val="FF0000"/>
                </a:solidFill>
              </a:rPr>
              <a:t>HAVING</a:t>
            </a:r>
            <a:r>
              <a:rPr lang="ko-KR" altLang="en-US" dirty="0">
                <a:solidFill>
                  <a:srgbClr val="FF0000"/>
                </a:solidFill>
              </a:rPr>
              <a:t>절의 차이점</a:t>
            </a:r>
            <a:endParaRPr lang="en-US" altLang="ko-KR" dirty="0">
              <a:solidFill>
                <a:srgbClr val="FF0000"/>
              </a:solidFill>
            </a:endParaRPr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7-22, </a:t>
            </a:r>
            <a:r>
              <a:rPr lang="ko-KR" altLang="en-US" dirty="0"/>
              <a:t>실습 </a:t>
            </a:r>
            <a:r>
              <a:rPr lang="en-US" altLang="ko-KR" dirty="0"/>
              <a:t>7-23</a:t>
            </a:r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700809"/>
            <a:ext cx="6264696" cy="2362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20611E5-CE77-E9B8-9F65-5204783F3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760" y="4091832"/>
            <a:ext cx="370124" cy="4535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022CFA9-3F18-D4D8-74F6-B6AC9B3137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8204" y="4946307"/>
            <a:ext cx="727359" cy="4217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3264C34-EA24-ED6E-18B2-0B1B72FE47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8390" y="5854890"/>
            <a:ext cx="920900" cy="8507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D36B9C4-A5F2-A3B8-0751-5E8ECC0687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8169" y="5854890"/>
            <a:ext cx="833133" cy="82231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042829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원본">
  <a:themeElements>
    <a:clrScheme name="원본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원본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원본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406</TotalTime>
  <Words>191</Words>
  <Application>Microsoft Office PowerPoint</Application>
  <PresentationFormat>화면 슬라이드 쇼(4:3)</PresentationFormat>
  <Paragraphs>50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맑은 고딕</vt:lpstr>
      <vt:lpstr>Bookman Old Style</vt:lpstr>
      <vt:lpstr>Gill Sans MT</vt:lpstr>
      <vt:lpstr>Wingdings</vt:lpstr>
      <vt:lpstr>Wingdings 3</vt:lpstr>
      <vt:lpstr>원본</vt:lpstr>
      <vt:lpstr>Chap07. 다중행 함수와 데이터 그룹화</vt:lpstr>
      <vt:lpstr>07-1 하나의 열에 출력 결과를 담는 다중행 함수</vt:lpstr>
      <vt:lpstr>07-2 결과 값을 원하는 열로 묶어 출력하는         GROUP BY 절</vt:lpstr>
      <vt:lpstr>07-3 GROUP BY절에 조건을 줄 때 사용하는         HAVING절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Chap01</dc:title>
  <dc:creator>Microsoft Corporation</dc:creator>
  <cp:lastModifiedBy>218</cp:lastModifiedBy>
  <cp:revision>78</cp:revision>
  <dcterms:created xsi:type="dcterms:W3CDTF">2006-10-05T04:04:58Z</dcterms:created>
  <dcterms:modified xsi:type="dcterms:W3CDTF">2026-04-04T06:31:50Z</dcterms:modified>
</cp:coreProperties>
</file>