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25"/>
  </p:notesMasterIdLst>
  <p:sldIdLst>
    <p:sldId id="256" r:id="rId2"/>
    <p:sldId id="268" r:id="rId3"/>
    <p:sldId id="275" r:id="rId4"/>
    <p:sldId id="257" r:id="rId5"/>
    <p:sldId id="258" r:id="rId6"/>
    <p:sldId id="269" r:id="rId7"/>
    <p:sldId id="259" r:id="rId8"/>
    <p:sldId id="260" r:id="rId9"/>
    <p:sldId id="261" r:id="rId10"/>
    <p:sldId id="271" r:id="rId11"/>
    <p:sldId id="272" r:id="rId12"/>
    <p:sldId id="273" r:id="rId13"/>
    <p:sldId id="262" r:id="rId14"/>
    <p:sldId id="274" r:id="rId15"/>
    <p:sldId id="276" r:id="rId16"/>
    <p:sldId id="788" r:id="rId17"/>
    <p:sldId id="790" r:id="rId18"/>
    <p:sldId id="263" r:id="rId19"/>
    <p:sldId id="793" r:id="rId20"/>
    <p:sldId id="264" r:id="rId21"/>
    <p:sldId id="265" r:id="rId22"/>
    <p:sldId id="266" r:id="rId23"/>
    <p:sldId id="791" r:id="rId2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94660"/>
  </p:normalViewPr>
  <p:slideViewPr>
    <p:cSldViewPr>
      <p:cViewPr varScale="1">
        <p:scale>
          <a:sx n="73" d="100"/>
          <a:sy n="73" d="100"/>
        </p:scale>
        <p:origin x="60" y="7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1275D8-E296-424F-BD64-6F77E741B0C4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6E2AF-7A28-4DCF-B349-FC6448C7A6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975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6E2AF-7A28-4DCF-B349-FC6448C7A64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255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6E2AF-7A28-4DCF-B349-FC6448C7A64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800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-- </a:t>
            </a:r>
            <a:r>
              <a:rPr lang="ko-KR" altLang="en-US" dirty="0"/>
              <a:t>실습 </a:t>
            </a:r>
            <a:r>
              <a:rPr lang="en-US" altLang="ko-KR" dirty="0"/>
              <a:t>9-15 30</a:t>
            </a:r>
            <a:r>
              <a:rPr lang="ko-KR" altLang="en-US" dirty="0"/>
              <a:t>번 부서 사원들의 최대 급여보다 더 많은 급여를 받는 사원 정보</a:t>
            </a:r>
          </a:p>
          <a:p>
            <a:r>
              <a:rPr lang="en-US" altLang="ko-KR" dirty="0"/>
              <a:t>SELECT *</a:t>
            </a:r>
          </a:p>
          <a:p>
            <a:r>
              <a:rPr lang="en-US" altLang="ko-KR" dirty="0"/>
              <a:t>  FROM EMP</a:t>
            </a:r>
          </a:p>
          <a:p>
            <a:r>
              <a:rPr lang="en-US" altLang="ko-KR" dirty="0"/>
              <a:t> WHERE SAL &gt; ALL (SELECT SAL</a:t>
            </a:r>
          </a:p>
          <a:p>
            <a:r>
              <a:rPr lang="en-US" altLang="ko-KR" dirty="0"/>
              <a:t>                    FROM EMP</a:t>
            </a:r>
          </a:p>
          <a:p>
            <a:r>
              <a:rPr lang="en-US" altLang="ko-KR" dirty="0"/>
              <a:t>                   WHERE DEPTNO = 30);</a:t>
            </a:r>
          </a:p>
          <a:p>
            <a:r>
              <a:rPr lang="en-US" altLang="ko-KR" dirty="0"/>
              <a:t>SELECT *</a:t>
            </a:r>
          </a:p>
          <a:p>
            <a:r>
              <a:rPr lang="en-US" altLang="ko-KR" dirty="0"/>
              <a:t>  FROM EMP</a:t>
            </a:r>
          </a:p>
          <a:p>
            <a:r>
              <a:rPr lang="en-US" altLang="ko-KR" dirty="0"/>
              <a:t> WHERE SAL &gt; ALL (SELECT max(SAL)</a:t>
            </a:r>
          </a:p>
          <a:p>
            <a:r>
              <a:rPr lang="en-US" altLang="ko-KR" dirty="0"/>
              <a:t>                    FROM EMP</a:t>
            </a:r>
          </a:p>
          <a:p>
            <a:r>
              <a:rPr lang="en-US" altLang="ko-KR" dirty="0"/>
              <a:t>                   WHERE DEPTNO = 30);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6E2AF-7A28-4DCF-B349-FC6448C7A64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889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FB30EDBD-1C2D-4C1E-B459-B60219FAB484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직사각형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직사각형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직사각형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B30EDBD-1C2D-4C1E-B459-B60219FAB484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이등변 삼각형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선 연결선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이등변 삼각형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선 연결선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내용 개체 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선 연결선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이등변 삼각형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선 연결선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8" name="직선 연결선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직선 연결선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이등변 삼각형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1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1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1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1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1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1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Chap09. SQL</a:t>
            </a:r>
            <a:r>
              <a:rPr lang="ko-KR" altLang="en-US" dirty="0"/>
              <a:t>문 속 또 다른 </a:t>
            </a:r>
            <a:r>
              <a:rPr lang="en-US" altLang="ko-KR" dirty="0"/>
              <a:t>SQL</a:t>
            </a:r>
            <a:r>
              <a:rPr lang="ko-KR" altLang="en-US" dirty="0"/>
              <a:t>문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 err="1"/>
              <a:t>서브쿼리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00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09-1 </a:t>
            </a:r>
            <a:r>
              <a:rPr lang="ko-KR" altLang="en-US" dirty="0" err="1"/>
              <a:t>서브쿼리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err="1">
                <a:solidFill>
                  <a:srgbClr val="FF0000"/>
                </a:solidFill>
              </a:rPr>
              <a:t>서브쿼리</a:t>
            </a:r>
            <a:r>
              <a:rPr lang="ko-KR" altLang="en-US" err="1"/>
              <a:t>란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r>
              <a:rPr lang="ko-KR" altLang="en-US"/>
              <a:t>실습 </a:t>
            </a:r>
            <a:r>
              <a:rPr lang="en-US" altLang="ko-KR"/>
              <a:t>9-1, </a:t>
            </a:r>
            <a:r>
              <a:rPr lang="ko-KR" altLang="en-US"/>
              <a:t>실습 </a:t>
            </a:r>
            <a:r>
              <a:rPr lang="en-US" altLang="ko-KR"/>
              <a:t>9-2, </a:t>
            </a:r>
            <a:r>
              <a:rPr lang="ko-KR" altLang="en-US"/>
              <a:t>실습 </a:t>
            </a:r>
            <a:r>
              <a:rPr lang="en-US" altLang="ko-KR"/>
              <a:t>9-3</a:t>
            </a:r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271292-97B1-4C26-B017-E5D9F85E0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060848"/>
            <a:ext cx="7632848" cy="276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585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1D68-915C-C9E2-D8D6-C633845B5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C98428-9954-BC4F-D3B6-0144C6A63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09-1 </a:t>
            </a:r>
            <a:r>
              <a:rPr lang="ko-KR" altLang="en-US" dirty="0" err="1"/>
              <a:t>서브쿼리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8BCBE8-C383-55F7-F2F6-8B6CCD6A2D6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err="1">
                <a:solidFill>
                  <a:srgbClr val="FF0000"/>
                </a:solidFill>
              </a:rPr>
              <a:t>서브쿼리</a:t>
            </a:r>
            <a:r>
              <a:rPr lang="ko-KR" altLang="en-US" err="1"/>
              <a:t>란</a:t>
            </a:r>
            <a:r>
              <a:rPr lang="en-US" altLang="ko-KR"/>
              <a:t>?</a:t>
            </a:r>
          </a:p>
          <a:p>
            <a:pPr lvl="1"/>
            <a:r>
              <a:rPr lang="ko-KR" altLang="en-US"/>
              <a:t>실습 </a:t>
            </a:r>
            <a:r>
              <a:rPr lang="en-US" altLang="ko-KR"/>
              <a:t>9-1, </a:t>
            </a:r>
            <a:r>
              <a:rPr lang="ko-KR" altLang="en-US"/>
              <a:t>실습 </a:t>
            </a:r>
            <a:r>
              <a:rPr lang="en-US" altLang="ko-KR"/>
              <a:t>9-2, </a:t>
            </a:r>
            <a:r>
              <a:rPr lang="ko-KR" altLang="en-US"/>
              <a:t>실습 </a:t>
            </a:r>
            <a:r>
              <a:rPr lang="en-US" altLang="ko-KR"/>
              <a:t>9-3</a:t>
            </a:r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C846DE-4AE1-E6A2-A27D-7443293A7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70" y="2376798"/>
            <a:ext cx="4134427" cy="10955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6C8DB46-EB1C-ECB0-70FB-BFFDC2F19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2395614"/>
            <a:ext cx="3924848" cy="11336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3BE152F-8B5E-BDC5-3C59-80DECA581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720" y="3895569"/>
            <a:ext cx="5353797" cy="17337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F56F334-523D-0274-1068-D09DC53FD4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100" y="2804923"/>
            <a:ext cx="847843" cy="5144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884689D-EDF9-F783-3EED-03C54B4707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770" y="3548526"/>
            <a:ext cx="780681" cy="9230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DA4AC26-78B4-BF4E-EE85-9CF07D7F09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7736" y="3772028"/>
            <a:ext cx="1018634" cy="4760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1F923E8-5485-CA74-698E-2B1575290B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1720" y="5835974"/>
            <a:ext cx="1497873" cy="7943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98946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56320"/>
          </a:xfrm>
        </p:spPr>
        <p:txBody>
          <a:bodyPr>
            <a:normAutofit/>
          </a:bodyPr>
          <a:lstStyle/>
          <a:p>
            <a:r>
              <a:rPr lang="en-US" altLang="ko-KR" dirty="0"/>
              <a:t>09-1 </a:t>
            </a:r>
            <a:r>
              <a:rPr lang="ko-KR" altLang="en-US" dirty="0" err="1"/>
              <a:t>서브쿼리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특징</a:t>
            </a:r>
            <a:endParaRPr lang="en-US" altLang="ko-KR" dirty="0"/>
          </a:p>
          <a:p>
            <a:pPr lvl="1"/>
            <a:r>
              <a:rPr lang="ko-KR" altLang="en-US" dirty="0"/>
              <a:t>괄호로 감싸 사용</a:t>
            </a:r>
            <a:r>
              <a:rPr lang="en-US" altLang="ko-KR" dirty="0"/>
              <a:t>( )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독립 실행 가능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 err="1"/>
              <a:t>서브쿼리의</a:t>
            </a:r>
            <a:r>
              <a:rPr lang="ko-KR" altLang="en-US" dirty="0"/>
              <a:t>  </a:t>
            </a:r>
            <a:r>
              <a:rPr lang="en-US" altLang="ko-KR" dirty="0"/>
              <a:t>SELECT</a:t>
            </a:r>
            <a:r>
              <a:rPr lang="ko-KR" altLang="en-US" dirty="0"/>
              <a:t>절에 명시한 열은 </a:t>
            </a:r>
            <a:r>
              <a:rPr lang="ko-KR" altLang="en-US" dirty="0" err="1"/>
              <a:t>메인쿼리의</a:t>
            </a:r>
            <a:r>
              <a:rPr lang="ko-KR" altLang="en-US" dirty="0"/>
              <a:t> 비교 대상과 같은 자료형과 같은 개수로 지정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결과가 </a:t>
            </a:r>
            <a:r>
              <a:rPr lang="ko-KR" altLang="en-US" dirty="0" err="1"/>
              <a:t>단일값</a:t>
            </a:r>
            <a:r>
              <a:rPr lang="ko-KR" altLang="en-US" dirty="0"/>
              <a:t> 혹은 </a:t>
            </a:r>
            <a:r>
              <a:rPr lang="ko-KR" altLang="en-US" dirty="0" err="1"/>
              <a:t>다중값</a:t>
            </a:r>
            <a:r>
              <a:rPr lang="ko-KR" altLang="en-US" dirty="0"/>
              <a:t> 반환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잘못 사용하면 성능 저하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55779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09-2 </a:t>
            </a:r>
            <a:r>
              <a:rPr lang="ko-KR" altLang="en-US" dirty="0"/>
              <a:t>실행 결과가 하나인 </a:t>
            </a:r>
            <a:r>
              <a:rPr lang="ko-KR" altLang="en-US" dirty="0" err="1"/>
              <a:t>단일행</a:t>
            </a:r>
            <a:r>
              <a:rPr lang="ko-KR" altLang="en-US" dirty="0"/>
              <a:t> </a:t>
            </a:r>
            <a:r>
              <a:rPr lang="ko-KR" altLang="en-US" dirty="0" err="1"/>
              <a:t>서브쿼리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단일행</a:t>
            </a:r>
            <a:r>
              <a:rPr lang="ko-KR" altLang="en-US" dirty="0"/>
              <a:t> </a:t>
            </a:r>
            <a:r>
              <a:rPr lang="ko-KR" altLang="en-US" dirty="0" err="1"/>
              <a:t>서브쿼리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실행 결과가 단 하나의 행으로 나오는 </a:t>
            </a:r>
            <a:r>
              <a:rPr lang="ko-KR" altLang="en-US" dirty="0" err="1"/>
              <a:t>서브쿼리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 err="1"/>
              <a:t>단일행</a:t>
            </a:r>
            <a:r>
              <a:rPr lang="ko-KR" altLang="en-US" dirty="0"/>
              <a:t> 연산자 사용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6E1153-CD31-403D-B669-F162247FF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9" y="3573016"/>
            <a:ext cx="7848872" cy="138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83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31D7C-0EE0-AC91-1DBC-4004559CC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6B3D6-322C-41F2-1EDC-F4278BDDF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09-2 </a:t>
            </a:r>
            <a:r>
              <a:rPr lang="ko-KR" altLang="en-US" dirty="0"/>
              <a:t>실행 결과가 하나인 </a:t>
            </a:r>
            <a:r>
              <a:rPr lang="ko-KR" altLang="en-US" dirty="0" err="1"/>
              <a:t>단일행</a:t>
            </a:r>
            <a:r>
              <a:rPr lang="ko-KR" altLang="en-US" dirty="0"/>
              <a:t> </a:t>
            </a:r>
            <a:r>
              <a:rPr lang="ko-KR" altLang="en-US" dirty="0" err="1"/>
              <a:t>서브쿼리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77C59E-487A-2441-30C5-113D9EFF985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4937760"/>
          </a:xfrm>
        </p:spPr>
        <p:txBody>
          <a:bodyPr/>
          <a:lstStyle/>
          <a:p>
            <a:r>
              <a:rPr lang="ko-KR" altLang="en-US" dirty="0" err="1"/>
              <a:t>단일행</a:t>
            </a:r>
            <a:r>
              <a:rPr lang="ko-KR" altLang="en-US" dirty="0"/>
              <a:t> </a:t>
            </a:r>
            <a:r>
              <a:rPr lang="ko-KR" altLang="en-US" dirty="0" err="1"/>
              <a:t>서브쿼리</a:t>
            </a:r>
            <a:endParaRPr lang="en-US" altLang="ko-KR" dirty="0"/>
          </a:p>
          <a:p>
            <a:pPr lvl="1"/>
            <a:r>
              <a:rPr lang="ko-KR" altLang="en-US" dirty="0" err="1"/>
              <a:t>단일행</a:t>
            </a:r>
            <a:r>
              <a:rPr lang="ko-KR" altLang="en-US" dirty="0"/>
              <a:t> </a:t>
            </a:r>
            <a:r>
              <a:rPr lang="ko-KR" altLang="en-US" dirty="0" err="1"/>
              <a:t>서브쿼리와</a:t>
            </a:r>
            <a:r>
              <a:rPr lang="ko-KR" altLang="en-US" dirty="0"/>
              <a:t> 날짜형 데이터</a:t>
            </a:r>
            <a:endParaRPr lang="en-US" altLang="ko-KR" dirty="0"/>
          </a:p>
          <a:p>
            <a:pPr lvl="2"/>
            <a:r>
              <a:rPr lang="ko-KR" altLang="en-US" dirty="0"/>
              <a:t>실습 </a:t>
            </a:r>
            <a:r>
              <a:rPr lang="en-US" altLang="ko-KR" dirty="0"/>
              <a:t>9-4 </a:t>
            </a:r>
            <a:r>
              <a:rPr lang="ko-KR" altLang="en-US" sz="1200" dirty="0" err="1"/>
              <a:t>서브쿼리의</a:t>
            </a:r>
            <a:r>
              <a:rPr lang="ko-KR" altLang="en-US" sz="1200" dirty="0"/>
              <a:t> 결과 값이 </a:t>
            </a:r>
            <a:r>
              <a:rPr lang="ko-KR" altLang="en-US" sz="1200" dirty="0" err="1"/>
              <a:t>날짜형인</a:t>
            </a:r>
            <a:r>
              <a:rPr lang="ko-KR" altLang="en-US" sz="1200" dirty="0"/>
              <a:t> 경우</a:t>
            </a:r>
            <a:endParaRPr lang="en-US" altLang="ko-KR" sz="120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단일형 </a:t>
            </a:r>
            <a:r>
              <a:rPr lang="ko-KR" altLang="en-US" dirty="0" err="1"/>
              <a:t>서브쿼리와</a:t>
            </a:r>
            <a:r>
              <a:rPr lang="ko-KR" altLang="en-US" dirty="0"/>
              <a:t> 함수</a:t>
            </a:r>
            <a:endParaRPr lang="en-US" altLang="ko-KR" dirty="0"/>
          </a:p>
          <a:p>
            <a:pPr lvl="2"/>
            <a:r>
              <a:rPr lang="ko-KR" altLang="en-US" dirty="0"/>
              <a:t>실습 </a:t>
            </a:r>
            <a:r>
              <a:rPr lang="en-US" altLang="ko-KR" dirty="0"/>
              <a:t>9-5 </a:t>
            </a:r>
            <a:r>
              <a:rPr lang="en-US" altLang="ko-KR" sz="1200" dirty="0"/>
              <a:t>20</a:t>
            </a:r>
            <a:r>
              <a:rPr lang="ko-KR" altLang="en-US" sz="1200" dirty="0"/>
              <a:t>번 부서에 속한 사원중에서 전체 사원의 평균보다 높은 급여를 받는 사원의 정보와 부서 정보</a:t>
            </a:r>
            <a:endParaRPr lang="en-US" altLang="ko-KR" sz="120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2168B3-6163-B136-9906-10462F55A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5013176"/>
            <a:ext cx="5058481" cy="13432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00141A3-DA7C-CD42-DC29-78E2E5FDD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04" y="2564904"/>
            <a:ext cx="3686689" cy="13717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22A92C5-9B4C-BF97-0C72-F63B272659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6392" y="2573383"/>
            <a:ext cx="1819808" cy="9732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460A1BA-E9F9-FB4C-A0DD-B981783B5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3282" y="5245191"/>
            <a:ext cx="1126907" cy="7872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38241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09-3 </a:t>
            </a:r>
            <a:r>
              <a:rPr lang="ko-KR" altLang="en-US" dirty="0"/>
              <a:t>실행 결과가 여러 개인 </a:t>
            </a:r>
            <a:r>
              <a:rPr lang="ko-KR" altLang="en-US" dirty="0" err="1"/>
              <a:t>다중행</a:t>
            </a:r>
            <a:r>
              <a:rPr lang="ko-KR" altLang="en-US" dirty="0"/>
              <a:t> </a:t>
            </a:r>
            <a:r>
              <a:rPr lang="ko-KR" altLang="en-US" dirty="0" err="1"/>
              <a:t>서브쿼리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다중행</a:t>
            </a:r>
            <a:r>
              <a:rPr lang="ko-KR" altLang="en-US" dirty="0"/>
              <a:t> </a:t>
            </a:r>
            <a:r>
              <a:rPr lang="ko-KR" altLang="en-US" dirty="0" err="1"/>
              <a:t>서브쿼리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실행 결과가 여러 개의 행으로 나오는 </a:t>
            </a:r>
            <a:r>
              <a:rPr lang="ko-KR" altLang="en-US" dirty="0" err="1"/>
              <a:t>서브쿼리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다</a:t>
            </a:r>
            <a:r>
              <a:rPr lang="ko-KR" altLang="en-US"/>
              <a:t>중행 </a:t>
            </a:r>
            <a:r>
              <a:rPr lang="ko-KR" altLang="en-US" dirty="0"/>
              <a:t>연산자 사용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70EEA75-2223-404C-85B5-BF33A5805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413719"/>
            <a:ext cx="7200800" cy="211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829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09-3 </a:t>
            </a:r>
            <a:r>
              <a:rPr lang="ko-KR" altLang="en-US" dirty="0"/>
              <a:t>실행 결과가 여러 개인 </a:t>
            </a:r>
            <a:r>
              <a:rPr lang="ko-KR" altLang="en-US" dirty="0" err="1"/>
              <a:t>다중행</a:t>
            </a:r>
            <a:r>
              <a:rPr lang="ko-KR" altLang="en-US" dirty="0"/>
              <a:t> </a:t>
            </a:r>
            <a:r>
              <a:rPr lang="ko-KR" altLang="en-US" dirty="0" err="1"/>
              <a:t>서브쿼리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0000"/>
                </a:solidFill>
              </a:rPr>
              <a:t>IN</a:t>
            </a:r>
            <a:r>
              <a:rPr lang="en-US" altLang="ko-KR" dirty="0"/>
              <a:t> </a:t>
            </a:r>
            <a:r>
              <a:rPr lang="ko-KR" altLang="en-US" dirty="0"/>
              <a:t>연산자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 err="1"/>
              <a:t>서브쿼리의</a:t>
            </a:r>
            <a:r>
              <a:rPr lang="ko-KR" altLang="en-US" dirty="0"/>
              <a:t> 결과와 일치하는 값을 가진 행을 출력</a:t>
            </a:r>
            <a:endParaRPr lang="en-US" altLang="ko-KR" dirty="0"/>
          </a:p>
          <a:p>
            <a:pPr lvl="1"/>
            <a:r>
              <a:rPr lang="en-US" altLang="ko-KR"/>
              <a:t>WHERE</a:t>
            </a:r>
            <a:r>
              <a:rPr lang="ko-KR" altLang="en-US" dirty="0"/>
              <a:t>절에 </a:t>
            </a:r>
            <a:r>
              <a:rPr lang="ko-KR" altLang="en-US" dirty="0" err="1"/>
              <a:t>서브쿼리</a:t>
            </a:r>
            <a:r>
              <a:rPr lang="ko-KR" altLang="en-US" dirty="0"/>
              <a:t> 없을 때의 </a:t>
            </a:r>
            <a:r>
              <a:rPr lang="en-US" altLang="ko-KR" dirty="0"/>
              <a:t>IN </a:t>
            </a:r>
            <a:r>
              <a:rPr lang="ko-KR" altLang="en-US" dirty="0"/>
              <a:t>연산자와 </a:t>
            </a:r>
            <a:r>
              <a:rPr lang="ko-KR" altLang="en-US"/>
              <a:t>동일한 효과</a:t>
            </a:r>
            <a:endParaRPr lang="en-US" altLang="ko-KR"/>
          </a:p>
          <a:p>
            <a:pPr lvl="2"/>
            <a:r>
              <a:rPr lang="ko-KR" altLang="en-US"/>
              <a:t>실습 </a:t>
            </a:r>
            <a:r>
              <a:rPr lang="en-US" altLang="ko-KR"/>
              <a:t>9-6</a:t>
            </a:r>
          </a:p>
          <a:p>
            <a:pPr lvl="2"/>
            <a:endParaRPr lang="en-US" altLang="ko-KR"/>
          </a:p>
          <a:p>
            <a:pPr lvl="2"/>
            <a:r>
              <a:rPr lang="ko-KR" altLang="en-US"/>
              <a:t>실습 </a:t>
            </a:r>
            <a:r>
              <a:rPr lang="en-US" altLang="ko-KR"/>
              <a:t>9-7 </a:t>
            </a:r>
            <a:r>
              <a:rPr lang="ko-KR" altLang="en-US" sz="1200"/>
              <a:t>각 부서별 최고 급여와 동일한 급여를 받는 사원 정보</a:t>
            </a:r>
            <a:endParaRPr lang="en-US" altLang="ko-KR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B15C33-D01E-335A-1B79-546C0BAD2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4333942"/>
            <a:ext cx="2990428" cy="13061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008B248-9D88-4B03-3E54-018322ACE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4387428"/>
            <a:ext cx="1028844" cy="8764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5FB13D0-AE87-D781-F15B-597768C7E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656" y="5795651"/>
            <a:ext cx="5601482" cy="86689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EC67732-0057-B50D-BA47-94626CEF8CA3}"/>
              </a:ext>
            </a:extLst>
          </p:cNvPr>
          <p:cNvCxnSpPr/>
          <p:nvPr/>
        </p:nvCxnSpPr>
        <p:spPr>
          <a:xfrm flipV="1">
            <a:off x="4388704" y="4785745"/>
            <a:ext cx="1008112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B9E68EB3-0F6A-F2EB-3C9F-4C6653F62D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5776" y="2991636"/>
            <a:ext cx="2432263" cy="80226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7E9245C-67F7-86A8-308E-FA6003A9E5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4168" y="3203264"/>
            <a:ext cx="1099728" cy="8592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4E1A7F9-6DE0-99E2-CB88-B45A57E2C1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0233" y="4501195"/>
            <a:ext cx="1994520" cy="11536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57556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09-3 </a:t>
            </a:r>
            <a:r>
              <a:rPr lang="ko-KR" altLang="en-US" dirty="0"/>
              <a:t>실행 결과가 여러 개인 </a:t>
            </a:r>
            <a:r>
              <a:rPr lang="ko-KR" altLang="en-US" dirty="0" err="1"/>
              <a:t>다중행</a:t>
            </a:r>
            <a:r>
              <a:rPr lang="ko-KR" altLang="en-US" dirty="0"/>
              <a:t> </a:t>
            </a:r>
            <a:r>
              <a:rPr lang="ko-KR" altLang="en-US" dirty="0" err="1"/>
              <a:t>서브쿼리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ANY, </a:t>
            </a:r>
            <a:r>
              <a:rPr lang="en-US" altLang="ko-KR"/>
              <a:t>SOME </a:t>
            </a:r>
            <a:r>
              <a:rPr lang="ko-KR" altLang="en-US"/>
              <a:t>연산자</a:t>
            </a:r>
            <a:endParaRPr lang="en-US" altLang="ko-KR" dirty="0"/>
          </a:p>
          <a:p>
            <a:pPr lvl="1"/>
            <a:r>
              <a:rPr lang="ko-KR" altLang="en-US"/>
              <a:t>서브쿼리의 </a:t>
            </a:r>
            <a:r>
              <a:rPr lang="ko-KR" altLang="en-US" dirty="0"/>
              <a:t>여러 결과 값에 </a:t>
            </a:r>
            <a:r>
              <a:rPr lang="ko-KR" altLang="en-US" dirty="0" err="1"/>
              <a:t>메인쿼리의</a:t>
            </a:r>
            <a:r>
              <a:rPr lang="ko-KR" altLang="en-US" dirty="0"/>
              <a:t> </a:t>
            </a:r>
            <a:r>
              <a:rPr lang="ko-KR" altLang="en-US"/>
              <a:t>조건식을 대입</a:t>
            </a:r>
            <a:r>
              <a:rPr lang="en-US" altLang="ko-KR"/>
              <a:t>(</a:t>
            </a:r>
            <a:r>
              <a:rPr lang="ko-KR" altLang="en-US"/>
              <a:t>일반적으로 범위 비교시 사용</a:t>
            </a:r>
            <a:r>
              <a:rPr lang="en-US" altLang="ko-KR"/>
              <a:t>)</a:t>
            </a:r>
            <a:endParaRPr lang="en-US" altLang="ko-KR" dirty="0"/>
          </a:p>
          <a:p>
            <a:pPr lvl="1"/>
            <a:r>
              <a:rPr lang="ko-KR" altLang="en-US"/>
              <a:t>조건식을 </a:t>
            </a:r>
            <a:r>
              <a:rPr lang="ko-KR" altLang="en-US" dirty="0"/>
              <a:t>대입한 결과가 </a:t>
            </a:r>
            <a:r>
              <a:rPr lang="ko-KR" altLang="en-US" u="sng" dirty="0"/>
              <a:t>하나라도 </a:t>
            </a:r>
            <a:r>
              <a:rPr lang="en-US" altLang="ko-KR" u="sng" dirty="0"/>
              <a:t>true</a:t>
            </a:r>
            <a:r>
              <a:rPr lang="ko-KR" altLang="en-US" u="sng" dirty="0"/>
              <a:t>일 경우</a:t>
            </a:r>
            <a:r>
              <a:rPr lang="en-US" altLang="ko-KR" dirty="0"/>
              <a:t>, </a:t>
            </a:r>
            <a:r>
              <a:rPr lang="ko-KR" altLang="en-US" dirty="0" err="1"/>
              <a:t>메인쿼리의</a:t>
            </a:r>
            <a:r>
              <a:rPr lang="ko-KR" altLang="en-US" dirty="0"/>
              <a:t> 조건식이 </a:t>
            </a:r>
            <a:r>
              <a:rPr lang="en-US" altLang="ko-KR"/>
              <a:t>true</a:t>
            </a:r>
            <a:r>
              <a:rPr lang="ko-KR" altLang="en-US"/>
              <a:t> </a:t>
            </a:r>
            <a:endParaRPr lang="en-US" altLang="ko-KR"/>
          </a:p>
          <a:p>
            <a:pPr lvl="1"/>
            <a:r>
              <a:rPr lang="ko-KR" altLang="en-US"/>
              <a:t>문법적 표현 차이만 있고</a:t>
            </a:r>
            <a:r>
              <a:rPr lang="en-US" altLang="ko-KR"/>
              <a:t>, </a:t>
            </a:r>
            <a:r>
              <a:rPr lang="ko-KR" altLang="en-US"/>
              <a:t>기능은 같음</a:t>
            </a:r>
            <a:endParaRPr lang="en-US" altLang="ko-KR"/>
          </a:p>
          <a:p>
            <a:pPr lvl="1"/>
            <a:r>
              <a:rPr lang="en-US" altLang="ko-KR"/>
              <a:t>ANY</a:t>
            </a:r>
            <a:r>
              <a:rPr lang="ko-KR" altLang="en-US"/>
              <a:t>가 일반적</a:t>
            </a:r>
            <a:endParaRPr lang="en-US" altLang="ko-KR" dirty="0"/>
          </a:p>
          <a:p>
            <a:pPr lvl="2"/>
            <a:r>
              <a:rPr lang="ko-KR" altLang="en-US"/>
              <a:t>실습 </a:t>
            </a:r>
            <a:r>
              <a:rPr lang="en-US" altLang="ko-KR"/>
              <a:t>9-8, </a:t>
            </a:r>
            <a:r>
              <a:rPr lang="ko-KR" altLang="en-US"/>
              <a:t>실습 </a:t>
            </a:r>
            <a:r>
              <a:rPr lang="en-US" altLang="ko-KR"/>
              <a:t>9-9 </a:t>
            </a:r>
            <a:r>
              <a:rPr lang="ko-KR" altLang="en-US" sz="1200"/>
              <a:t>부서별 최대급여와 동일한 급여를 받는 사원</a:t>
            </a:r>
            <a:endParaRPr lang="en-US" altLang="ko-KR" sz="1200"/>
          </a:p>
          <a:p>
            <a:pPr lvl="1"/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8E559DD-E64F-6AE9-0EBC-BAE95DCE32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082"/>
          <a:stretch/>
        </p:blipFill>
        <p:spPr>
          <a:xfrm>
            <a:off x="1331640" y="4533357"/>
            <a:ext cx="3240360" cy="13247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4506248-DD7E-C346-FA37-EA542CF9D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072" y="4538292"/>
            <a:ext cx="1076475" cy="83831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E20440F-CDE5-296D-B6FA-607C672FB3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640" y="6059741"/>
            <a:ext cx="4642693" cy="7803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9E8F919-4778-B7A6-1679-D75B50F67094}"/>
              </a:ext>
            </a:extLst>
          </p:cNvPr>
          <p:cNvSpPr/>
          <p:nvPr/>
        </p:nvSpPr>
        <p:spPr>
          <a:xfrm>
            <a:off x="2555828" y="5085185"/>
            <a:ext cx="458233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11E634A-FFA0-679B-8E3A-9BDE26BB5D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197" y="3407537"/>
            <a:ext cx="770843" cy="13247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75F58B7-8BD2-E7EE-6EC6-479A20212F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1723" y="5376609"/>
            <a:ext cx="2279636" cy="12982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98574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58ABC-DF69-63A8-6F53-1A398A48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9E889-5CEA-1D79-ED0A-9E6E2D825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09-3 </a:t>
            </a:r>
            <a:r>
              <a:rPr lang="ko-KR" altLang="en-US" dirty="0"/>
              <a:t>실행 결과가 여러 개인 </a:t>
            </a:r>
            <a:r>
              <a:rPr lang="ko-KR" altLang="en-US" dirty="0" err="1"/>
              <a:t>다중행</a:t>
            </a:r>
            <a:r>
              <a:rPr lang="ko-KR" altLang="en-US" dirty="0"/>
              <a:t> </a:t>
            </a:r>
            <a:r>
              <a:rPr lang="ko-KR" altLang="en-US" dirty="0" err="1"/>
              <a:t>서브쿼리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BB5F8D-C1BA-36D0-A851-DA797C30942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ANY, </a:t>
            </a:r>
            <a:r>
              <a:rPr lang="en-US" altLang="ko-KR"/>
              <a:t>SOME </a:t>
            </a:r>
            <a:r>
              <a:rPr lang="ko-KR" altLang="en-US"/>
              <a:t>연산자</a:t>
            </a:r>
            <a:endParaRPr lang="en-US" altLang="ko-KR" dirty="0"/>
          </a:p>
          <a:p>
            <a:endParaRPr lang="en-US" altLang="ko-KR" dirty="0"/>
          </a:p>
          <a:p>
            <a:pPr lvl="2"/>
            <a:r>
              <a:rPr lang="ko-KR" altLang="en-US"/>
              <a:t>실습 </a:t>
            </a:r>
            <a:r>
              <a:rPr lang="en-US" altLang="ko-KR"/>
              <a:t>9-10 </a:t>
            </a:r>
            <a:r>
              <a:rPr lang="ko-KR" altLang="en-US" sz="1200"/>
              <a:t>부서별 최대급여와 동일한 급여를 받는 사원</a:t>
            </a:r>
            <a:r>
              <a:rPr lang="en-US" altLang="ko-KR" sz="1200"/>
              <a:t>(ANY</a:t>
            </a:r>
            <a:r>
              <a:rPr lang="ko-KR" altLang="en-US" sz="1200"/>
              <a:t>와 동일</a:t>
            </a:r>
            <a:r>
              <a:rPr lang="en-US" altLang="ko-KR" sz="1200"/>
              <a:t>)</a:t>
            </a:r>
            <a:endParaRPr lang="en-US" altLang="ko-KR"/>
          </a:p>
          <a:p>
            <a:pPr lvl="2"/>
            <a:endParaRPr lang="en-US" altLang="ko-KR"/>
          </a:p>
          <a:p>
            <a:pPr marL="320040" lvl="1" indent="0">
              <a:buNone/>
            </a:pPr>
            <a:endParaRPr lang="en-US" altLang="ko-KR" sz="1200"/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18D964-D594-166C-8595-0F6DDD444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551" y="2708920"/>
            <a:ext cx="3631401" cy="1257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0B4669B-4302-04A4-A7DC-432AC3F41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4437112"/>
            <a:ext cx="4642693" cy="7803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8D4446A-A334-3191-2F33-84CFEC3A8C46}"/>
              </a:ext>
            </a:extLst>
          </p:cNvPr>
          <p:cNvSpPr/>
          <p:nvPr/>
        </p:nvSpPr>
        <p:spPr>
          <a:xfrm>
            <a:off x="3601018" y="3229645"/>
            <a:ext cx="610942" cy="2679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C873E8B-0E67-0B96-E335-464550628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201" y="2845898"/>
            <a:ext cx="2359711" cy="13129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39218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EBF47-E09D-10AA-9C56-26670A581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FF4A82-2C6A-11D1-9EC1-5841A014E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09-3 </a:t>
            </a:r>
            <a:r>
              <a:rPr lang="ko-KR" altLang="en-US" dirty="0"/>
              <a:t>실행 결과가 여러 개인 </a:t>
            </a:r>
            <a:r>
              <a:rPr lang="ko-KR" altLang="en-US" dirty="0" err="1"/>
              <a:t>다중행</a:t>
            </a:r>
            <a:r>
              <a:rPr lang="ko-KR" altLang="en-US" dirty="0"/>
              <a:t> </a:t>
            </a:r>
            <a:r>
              <a:rPr lang="ko-KR" altLang="en-US" dirty="0" err="1"/>
              <a:t>서브쿼리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3965BC-0A25-69EC-FE71-DB58E46E16E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ANY, SOME </a:t>
            </a:r>
            <a:r>
              <a:rPr lang="ko-KR" altLang="en-US" dirty="0"/>
              <a:t>연산자</a:t>
            </a:r>
            <a:endParaRPr lang="en-US" altLang="ko-KR" dirty="0"/>
          </a:p>
          <a:p>
            <a:endParaRPr lang="en-US" altLang="ko-KR" dirty="0"/>
          </a:p>
          <a:p>
            <a:pPr lvl="2"/>
            <a:r>
              <a:rPr lang="ko-KR" altLang="en-US" dirty="0"/>
              <a:t>실습 </a:t>
            </a:r>
            <a:r>
              <a:rPr lang="en-US" altLang="ko-KR" dirty="0"/>
              <a:t>9-11,</a:t>
            </a:r>
            <a:r>
              <a:rPr lang="ko-KR" altLang="en-US" dirty="0"/>
              <a:t>실습 </a:t>
            </a:r>
            <a:r>
              <a:rPr lang="en-US" altLang="ko-KR" dirty="0"/>
              <a:t>9-12</a:t>
            </a: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12BDF23-4142-3F81-242E-93E0A6C53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146007"/>
              </p:ext>
            </p:extLst>
          </p:nvPr>
        </p:nvGraphicFramePr>
        <p:xfrm>
          <a:off x="842238" y="2788920"/>
          <a:ext cx="745952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9762">
                  <a:extLst>
                    <a:ext uri="{9D8B030D-6E8A-4147-A177-3AD203B41FA5}">
                      <a16:colId xmlns:a16="http://schemas.microsoft.com/office/drawing/2014/main" val="1605946525"/>
                    </a:ext>
                  </a:extLst>
                </a:gridCol>
                <a:gridCol w="3729762">
                  <a:extLst>
                    <a:ext uri="{9D8B030D-6E8A-4147-A177-3AD203B41FA5}">
                      <a16:colId xmlns:a16="http://schemas.microsoft.com/office/drawing/2014/main" val="114035907"/>
                    </a:ext>
                  </a:extLst>
                </a:gridCol>
              </a:tblGrid>
              <a:tr h="27891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500" b="0">
                          <a:solidFill>
                            <a:schemeClr val="tx1"/>
                          </a:solidFill>
                        </a:rPr>
                        <a:t>30</a:t>
                      </a:r>
                      <a:r>
                        <a:rPr lang="ko-KR" altLang="en-US" sz="1500" b="0">
                          <a:solidFill>
                            <a:schemeClr val="tx1"/>
                          </a:solidFill>
                        </a:rPr>
                        <a:t>번 부서 사원들의 최대 급여보다 적은 급여를 받는 사원 정보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647278"/>
                  </a:ext>
                </a:extLst>
              </a:tr>
              <a:tr h="3187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>
                          <a:solidFill>
                            <a:schemeClr val="tx1"/>
                          </a:solidFill>
                        </a:rPr>
                        <a:t>&gt; ANY </a:t>
                      </a:r>
                      <a:r>
                        <a:rPr lang="ko-KR" altLang="en-US" sz="1500">
                          <a:solidFill>
                            <a:schemeClr val="tx1"/>
                          </a:solidFill>
                        </a:rPr>
                        <a:t>연산자 사용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500" dirty="0" err="1">
                          <a:solidFill>
                            <a:schemeClr val="tx1"/>
                          </a:solidFill>
                        </a:rPr>
                        <a:t>서브쿼리에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MAX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함수 사용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302714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D5303996-C1A1-19A2-0C15-48AA0C089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74" y="3595043"/>
            <a:ext cx="3477110" cy="15527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9126E53-8C45-267E-C11C-8E47289BE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233" y="3585517"/>
            <a:ext cx="3334215" cy="15623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9868CE5-6567-A5AF-9568-2AED6E4E5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240" y="5242099"/>
            <a:ext cx="762106" cy="141942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25A0979-F1CB-5592-8F72-DE9ECEAAA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616" y="5318627"/>
            <a:ext cx="4625741" cy="153937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A132318-CCE8-9F4E-CCA5-B91FBFB2A5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80" y="1741913"/>
            <a:ext cx="594964" cy="4814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AF2D7DC-BC4D-60FF-F397-2857F53F70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2459" y="1561428"/>
            <a:ext cx="1346449" cy="10792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1003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A3A33-A27B-1011-6702-DE5A771F5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052AE1-E63D-7EC9-C646-E075FA719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09-3 </a:t>
            </a:r>
            <a:r>
              <a:rPr lang="ko-KR" altLang="en-US" dirty="0"/>
              <a:t>실행 결과가 여러 개인 </a:t>
            </a:r>
            <a:r>
              <a:rPr lang="ko-KR" altLang="en-US" dirty="0" err="1"/>
              <a:t>다중행</a:t>
            </a:r>
            <a:r>
              <a:rPr lang="ko-KR" altLang="en-US" dirty="0"/>
              <a:t> </a:t>
            </a:r>
            <a:r>
              <a:rPr lang="ko-KR" altLang="en-US" dirty="0" err="1"/>
              <a:t>서브쿼리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4EDACC-6F74-EB6C-C021-7DAA7B9FDD2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ANY, </a:t>
            </a:r>
            <a:r>
              <a:rPr lang="en-US" altLang="ko-KR"/>
              <a:t>SOME </a:t>
            </a:r>
            <a:r>
              <a:rPr lang="ko-KR" altLang="en-US"/>
              <a:t>연산자</a:t>
            </a:r>
            <a:endParaRPr lang="en-US" altLang="ko-KR" dirty="0"/>
          </a:p>
          <a:p>
            <a:endParaRPr lang="en-US" altLang="ko-KR" dirty="0"/>
          </a:p>
          <a:p>
            <a:pPr lvl="2"/>
            <a:r>
              <a:rPr lang="ko-KR" altLang="en-US"/>
              <a:t>실습 </a:t>
            </a:r>
            <a:r>
              <a:rPr lang="en-US" altLang="ko-KR"/>
              <a:t>9-13</a:t>
            </a:r>
          </a:p>
          <a:p>
            <a:pPr lvl="2"/>
            <a:endParaRPr lang="en-US" altLang="ko-KR"/>
          </a:p>
          <a:p>
            <a:pPr lvl="1"/>
            <a:endParaRPr lang="en-US" altLang="ko-KR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4F6735B-B4FA-6A5C-55D6-FEA28BB94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646452"/>
              </p:ext>
            </p:extLst>
          </p:nvPr>
        </p:nvGraphicFramePr>
        <p:xfrm>
          <a:off x="991426" y="2821610"/>
          <a:ext cx="7161148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574">
                  <a:extLst>
                    <a:ext uri="{9D8B030D-6E8A-4147-A177-3AD203B41FA5}">
                      <a16:colId xmlns:a16="http://schemas.microsoft.com/office/drawing/2014/main" val="1605946525"/>
                    </a:ext>
                  </a:extLst>
                </a:gridCol>
                <a:gridCol w="3580574">
                  <a:extLst>
                    <a:ext uri="{9D8B030D-6E8A-4147-A177-3AD203B41FA5}">
                      <a16:colId xmlns:a16="http://schemas.microsoft.com/office/drawing/2014/main" val="114035907"/>
                    </a:ext>
                  </a:extLst>
                </a:gridCol>
              </a:tblGrid>
              <a:tr h="27891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5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r>
                        <a:rPr lang="ko-KR" altLang="en-US" sz="1500" b="0" dirty="0">
                          <a:solidFill>
                            <a:schemeClr val="tx1"/>
                          </a:solidFill>
                        </a:rPr>
                        <a:t>번 부서 사원들의 최소 급여보다 많은 급여를 받는 사원 정보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647278"/>
                  </a:ext>
                </a:extLst>
              </a:tr>
              <a:tr h="3187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&gt; ANY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연산자 사용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500" dirty="0" err="1">
                          <a:solidFill>
                            <a:schemeClr val="tx1"/>
                          </a:solidFill>
                        </a:rPr>
                        <a:t>서브쿼리에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MIN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함수 사용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302714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B641B659-E024-9372-F2B5-D038E3FB7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843838"/>
            <a:ext cx="3751551" cy="15293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BC3F009-6FEA-3D6B-89A8-14160038B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942" y="3840774"/>
            <a:ext cx="3751551" cy="14633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BB96E41-E2A8-5D92-A5A4-15D145F5E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2552" y="2306059"/>
            <a:ext cx="762106" cy="141942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CECD2DA-F0F2-34EE-B8BA-EE1EE893F6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584" y="1245849"/>
            <a:ext cx="1335054" cy="14467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38334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09-3 </a:t>
            </a:r>
            <a:r>
              <a:rPr lang="ko-KR" altLang="en-US" dirty="0"/>
              <a:t>실행 결과가 여러 개인 </a:t>
            </a:r>
            <a:r>
              <a:rPr lang="ko-KR" altLang="en-US" dirty="0" err="1"/>
              <a:t>다중행</a:t>
            </a:r>
            <a:r>
              <a:rPr lang="ko-KR" altLang="en-US" dirty="0"/>
              <a:t> </a:t>
            </a:r>
            <a:r>
              <a:rPr lang="ko-KR" altLang="en-US" dirty="0" err="1"/>
              <a:t>서브쿼리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ALL </a:t>
            </a:r>
            <a:r>
              <a:rPr lang="ko-KR" altLang="en-US" dirty="0"/>
              <a:t>연산자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 err="1"/>
              <a:t>서브쿼리의</a:t>
            </a:r>
            <a:r>
              <a:rPr lang="ko-KR" altLang="en-US" dirty="0"/>
              <a:t> 여러 결과 값에 </a:t>
            </a:r>
            <a:r>
              <a:rPr lang="ko-KR" altLang="en-US" dirty="0" err="1"/>
              <a:t>메인쿼리의</a:t>
            </a:r>
            <a:r>
              <a:rPr lang="ko-KR" altLang="en-US" dirty="0"/>
              <a:t> 조건식을 대입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조건식을 대입한 결과가 </a:t>
            </a:r>
            <a:r>
              <a:rPr lang="ko-KR" altLang="en-US" u="sng" dirty="0"/>
              <a:t>모두가 </a:t>
            </a:r>
            <a:r>
              <a:rPr lang="en-US" altLang="ko-KR" u="sng" dirty="0"/>
              <a:t>true</a:t>
            </a:r>
            <a:r>
              <a:rPr lang="ko-KR" altLang="en-US" u="sng" dirty="0"/>
              <a:t>일 경우</a:t>
            </a:r>
            <a:r>
              <a:rPr lang="en-US" altLang="ko-KR" dirty="0"/>
              <a:t>, </a:t>
            </a:r>
            <a:r>
              <a:rPr lang="ko-KR" altLang="en-US" dirty="0" err="1"/>
              <a:t>메인쿼리의</a:t>
            </a:r>
            <a:r>
              <a:rPr lang="ko-KR" altLang="en-US" dirty="0"/>
              <a:t> 조건식이 </a:t>
            </a:r>
            <a:r>
              <a:rPr lang="en-US" altLang="ko-KR" dirty="0"/>
              <a:t>true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52333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F3B8C-580C-522F-9730-401A80BF3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33A49-DD47-51B6-951C-7BAADB2E0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09-3 </a:t>
            </a:r>
            <a:r>
              <a:rPr lang="ko-KR" altLang="en-US" dirty="0"/>
              <a:t>실행 결과가 여러 개인 </a:t>
            </a:r>
            <a:r>
              <a:rPr lang="ko-KR" altLang="en-US" dirty="0" err="1"/>
              <a:t>다중행</a:t>
            </a:r>
            <a:r>
              <a:rPr lang="ko-KR" altLang="en-US" dirty="0"/>
              <a:t> </a:t>
            </a:r>
            <a:r>
              <a:rPr lang="ko-KR" altLang="en-US" dirty="0" err="1"/>
              <a:t>서브쿼리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EC4956-D393-F235-228F-5B11DD60B70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ALL </a:t>
            </a:r>
            <a:r>
              <a:rPr lang="ko-KR" altLang="en-US"/>
              <a:t>연산자</a:t>
            </a:r>
            <a:endParaRPr lang="en-US" altLang="ko-KR"/>
          </a:p>
          <a:p>
            <a:endParaRPr lang="en-US" altLang="ko-KR" dirty="0"/>
          </a:p>
          <a:p>
            <a:pPr lvl="2"/>
            <a:r>
              <a:rPr lang="ko-KR" altLang="en-US"/>
              <a:t>실습 </a:t>
            </a:r>
            <a:r>
              <a:rPr lang="en-US" altLang="ko-KR"/>
              <a:t>9-14</a:t>
            </a:r>
          </a:p>
          <a:p>
            <a:pPr lvl="2"/>
            <a:endParaRPr lang="en-US" altLang="ko-KR"/>
          </a:p>
          <a:p>
            <a:pPr lvl="1"/>
            <a:endParaRPr lang="en-US" altLang="ko-KR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3B6D229-A0B0-3A92-1665-EEF06AC51F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776465"/>
              </p:ext>
            </p:extLst>
          </p:nvPr>
        </p:nvGraphicFramePr>
        <p:xfrm>
          <a:off x="991426" y="2821610"/>
          <a:ext cx="7161148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574">
                  <a:extLst>
                    <a:ext uri="{9D8B030D-6E8A-4147-A177-3AD203B41FA5}">
                      <a16:colId xmlns:a16="http://schemas.microsoft.com/office/drawing/2014/main" val="1605946525"/>
                    </a:ext>
                  </a:extLst>
                </a:gridCol>
                <a:gridCol w="3580574">
                  <a:extLst>
                    <a:ext uri="{9D8B030D-6E8A-4147-A177-3AD203B41FA5}">
                      <a16:colId xmlns:a16="http://schemas.microsoft.com/office/drawing/2014/main" val="114035907"/>
                    </a:ext>
                  </a:extLst>
                </a:gridCol>
              </a:tblGrid>
              <a:tr h="27891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500" b="0">
                          <a:solidFill>
                            <a:schemeClr val="tx1"/>
                          </a:solidFill>
                        </a:rPr>
                        <a:t>30</a:t>
                      </a:r>
                      <a:r>
                        <a:rPr lang="ko-KR" altLang="en-US" sz="1500" b="0">
                          <a:solidFill>
                            <a:schemeClr val="tx1"/>
                          </a:solidFill>
                        </a:rPr>
                        <a:t>번 부서 사원들의 최소 급여보다 적은 급여를 받는 사원 정보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647278"/>
                  </a:ext>
                </a:extLst>
              </a:tr>
              <a:tr h="3187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>
                          <a:solidFill>
                            <a:schemeClr val="tx1"/>
                          </a:solidFill>
                        </a:rPr>
                        <a:t>&lt; ALL </a:t>
                      </a:r>
                      <a:r>
                        <a:rPr lang="ko-KR" altLang="en-US" sz="1500">
                          <a:solidFill>
                            <a:schemeClr val="tx1"/>
                          </a:solidFill>
                        </a:rPr>
                        <a:t>연산자 사용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500" dirty="0" err="1">
                          <a:solidFill>
                            <a:schemeClr val="tx1"/>
                          </a:solidFill>
                        </a:rPr>
                        <a:t>서브쿼리에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MIN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함수 사용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302714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ED818F92-18A8-59C6-79FA-3E2DB8EAE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24" y="5305230"/>
            <a:ext cx="752580" cy="140037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EDBD8CD-74E3-BBE4-744B-D7A6BCF2A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9" y="3760793"/>
            <a:ext cx="3334215" cy="13241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BCE9691-ED67-F3F0-4351-DC0FB2349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780" y="3760793"/>
            <a:ext cx="3362794" cy="13717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6D426EB-8B81-1E91-05E6-E21E85B381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5956" y="1309078"/>
            <a:ext cx="1987922" cy="13797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95177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6634D-BC36-5412-992E-7D101FD2C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95C11-27A7-8172-D85D-B982E503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09-3 </a:t>
            </a:r>
            <a:r>
              <a:rPr lang="ko-KR" altLang="en-US" dirty="0"/>
              <a:t>실행 결과가 여러 개인 </a:t>
            </a:r>
            <a:r>
              <a:rPr lang="ko-KR" altLang="en-US" dirty="0" err="1"/>
              <a:t>다중행</a:t>
            </a:r>
            <a:r>
              <a:rPr lang="ko-KR" altLang="en-US" dirty="0"/>
              <a:t> </a:t>
            </a:r>
            <a:r>
              <a:rPr lang="ko-KR" altLang="en-US" dirty="0" err="1"/>
              <a:t>서브쿼리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E06D25-B980-6FE9-5626-2912BBEF4DB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ALL </a:t>
            </a:r>
            <a:r>
              <a:rPr lang="ko-KR" altLang="en-US" dirty="0"/>
              <a:t>연산자</a:t>
            </a:r>
            <a:endParaRPr lang="en-US" altLang="ko-KR" dirty="0"/>
          </a:p>
          <a:p>
            <a:endParaRPr lang="en-US" altLang="ko-KR" dirty="0"/>
          </a:p>
          <a:p>
            <a:pPr lvl="2"/>
            <a:r>
              <a:rPr lang="ko-KR" altLang="en-US" dirty="0"/>
              <a:t>실습 </a:t>
            </a:r>
            <a:r>
              <a:rPr lang="en-US" altLang="ko-KR" dirty="0"/>
              <a:t>9-15</a:t>
            </a: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5737C75-0D87-CF97-1FD5-A41E35355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634701"/>
              </p:ext>
            </p:extLst>
          </p:nvPr>
        </p:nvGraphicFramePr>
        <p:xfrm>
          <a:off x="991426" y="2821610"/>
          <a:ext cx="7161148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574">
                  <a:extLst>
                    <a:ext uri="{9D8B030D-6E8A-4147-A177-3AD203B41FA5}">
                      <a16:colId xmlns:a16="http://schemas.microsoft.com/office/drawing/2014/main" val="1605946525"/>
                    </a:ext>
                  </a:extLst>
                </a:gridCol>
                <a:gridCol w="3580574">
                  <a:extLst>
                    <a:ext uri="{9D8B030D-6E8A-4147-A177-3AD203B41FA5}">
                      <a16:colId xmlns:a16="http://schemas.microsoft.com/office/drawing/2014/main" val="114035907"/>
                    </a:ext>
                  </a:extLst>
                </a:gridCol>
              </a:tblGrid>
              <a:tr h="27891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5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500" b="0">
                          <a:solidFill>
                            <a:schemeClr val="tx1"/>
                          </a:solidFill>
                        </a:rPr>
                        <a:t>30</a:t>
                      </a:r>
                      <a:r>
                        <a:rPr lang="ko-KR" altLang="en-US" sz="1500" b="0">
                          <a:solidFill>
                            <a:schemeClr val="tx1"/>
                          </a:solidFill>
                        </a:rPr>
                        <a:t>번 부서 사원들의 최대 급여보다 더 많은 급여를 받는 사원 정보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647278"/>
                  </a:ext>
                </a:extLst>
              </a:tr>
              <a:tr h="3187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&gt;ALL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연산자 사용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500" dirty="0" err="1">
                          <a:solidFill>
                            <a:schemeClr val="tx1"/>
                          </a:solidFill>
                        </a:rPr>
                        <a:t>서브쿼리에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MAX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함수 사용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302714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A4B6EEEB-3A90-781C-E38E-6662B45FF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296" y="5208540"/>
            <a:ext cx="752580" cy="140037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3D40BD1-F5E6-B406-9565-1E2CA49C6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753" y="3765294"/>
            <a:ext cx="3384479" cy="129880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3689BA2-7CE1-037C-15E7-96FAE2D6A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349" y="5422882"/>
            <a:ext cx="5715798" cy="971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8B008D9-0890-03E6-19CD-6DEA9B56DE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56" y="3765294"/>
            <a:ext cx="3801640" cy="1336841"/>
          </a:xfrm>
          <a:prstGeom prst="rect">
            <a:avLst/>
          </a:prstGeom>
          <a:ln>
            <a:noFill/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14A7AF-55AB-8F4D-2893-182470B4FA0E}"/>
              </a:ext>
            </a:extLst>
          </p:cNvPr>
          <p:cNvSpPr/>
          <p:nvPr/>
        </p:nvSpPr>
        <p:spPr>
          <a:xfrm>
            <a:off x="822364" y="3620934"/>
            <a:ext cx="7457027" cy="15917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직접 만들어 보세요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5ECCA0D-4743-6C2B-9E6A-E07BA5EB76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8476" y="1210991"/>
            <a:ext cx="2029622" cy="15486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3374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282749-ED01-525B-B6AC-FF42DE07264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ko-KR" altLang="en-US" dirty="0"/>
              <a:t>하위질의는 안쪽질의만 수행</a:t>
            </a:r>
            <a:r>
              <a:rPr lang="en-US" altLang="ko-KR" dirty="0"/>
              <a:t>, </a:t>
            </a:r>
          </a:p>
          <a:p>
            <a:pPr marL="457200" lvl="1" indent="0" eaLnBrk="1" hangingPunct="1">
              <a:lnSpc>
                <a:spcPct val="130000"/>
              </a:lnSpc>
              <a:buFontTx/>
              <a:buNone/>
              <a:defRPr/>
            </a:pPr>
            <a:r>
              <a:rPr lang="en-US" altLang="ko-KR" dirty="0"/>
              <a:t>But </a:t>
            </a:r>
            <a:r>
              <a:rPr lang="ko-KR" altLang="en-US" dirty="0" err="1"/>
              <a:t>상관하위질의</a:t>
            </a:r>
            <a:r>
              <a:rPr lang="ko-KR" altLang="en-US" dirty="0"/>
              <a:t> 안쪽 질의만 수행하면 오류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ko-KR" altLang="en-US" dirty="0"/>
              <a:t>바깥쪽질의에 선택된 행이 다시 안쪽 질의의 </a:t>
            </a:r>
            <a:r>
              <a:rPr lang="en-US" altLang="ko-KR" dirty="0"/>
              <a:t>where</a:t>
            </a:r>
            <a:r>
              <a:rPr lang="ko-KR" altLang="en-US" dirty="0"/>
              <a:t>절에서 참조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 err="1"/>
              <a:t>그결과가</a:t>
            </a:r>
            <a:r>
              <a:rPr lang="ko-KR" altLang="en-US" dirty="0"/>
              <a:t> 다시 바깥질의에 영향을 미침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ko-KR" altLang="en-US" dirty="0"/>
              <a:t>성능이 느리다</a:t>
            </a:r>
          </a:p>
          <a:p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973778E-924E-5B52-C933-C9F3376C6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/>
              <a:t>상관관계 </a:t>
            </a:r>
            <a:r>
              <a:rPr lang="ko-KR" altLang="en-US" dirty="0" err="1"/>
              <a:t>서브쿼리</a:t>
            </a:r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-&gt;)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3A10A8-D48E-A1C7-B0B4-40100116C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872" y="152400"/>
            <a:ext cx="1650305" cy="21325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62475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496E4-A625-892C-A1E3-3B476615F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A417684-1EAC-2484-1016-EAED23468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/>
          </a:bodyPr>
          <a:lstStyle/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 </a:t>
            </a:r>
            <a:r>
              <a:rPr lang="ko-KR" altLang="en-US"/>
              <a:t>상관관계 서브쿼리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099C369-5A4C-3C0F-7854-1CF8BBF7673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70386" y="4659319"/>
            <a:ext cx="4386551" cy="20162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내용 개체 틀 4">
            <a:extLst>
              <a:ext uri="{FF2B5EF4-FFF2-40B4-BE49-F238E27FC236}">
                <a16:creationId xmlns:a16="http://schemas.microsoft.com/office/drawing/2014/main" id="{441BAE6A-219F-3335-9FCA-E0FAC81AA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691" y="4659319"/>
            <a:ext cx="4386551" cy="20162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FA3B2D2-B264-957C-4DFE-D9A8F4AD8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49" y="1230141"/>
            <a:ext cx="3240360" cy="18140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884F47D-71A3-77E7-79AB-5E29462BE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045" y="1268756"/>
            <a:ext cx="4434783" cy="173681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9C11AC4-CC94-26AB-7569-2E1AC5D326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672" y="2924944"/>
            <a:ext cx="1476254" cy="1643829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331109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09-3 </a:t>
            </a:r>
            <a:r>
              <a:rPr lang="ko-KR" altLang="en-US" dirty="0"/>
              <a:t>실행 결과가 여러 개인 </a:t>
            </a:r>
            <a:r>
              <a:rPr lang="ko-KR" altLang="en-US" dirty="0" err="1"/>
              <a:t>다중행</a:t>
            </a:r>
            <a:r>
              <a:rPr lang="ko-KR" altLang="en-US" dirty="0"/>
              <a:t> </a:t>
            </a:r>
            <a:r>
              <a:rPr lang="ko-KR" altLang="en-US" dirty="0" err="1"/>
              <a:t>서브쿼리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EXISTS </a:t>
            </a:r>
            <a:r>
              <a:rPr lang="ko-KR" altLang="en-US" dirty="0"/>
              <a:t>연산자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 err="1"/>
              <a:t>서브쿼리의</a:t>
            </a:r>
            <a:r>
              <a:rPr lang="ko-KR" altLang="en-US" dirty="0"/>
              <a:t> 결과가 존재할 경우</a:t>
            </a:r>
            <a:r>
              <a:rPr lang="en-US" altLang="ko-KR" dirty="0"/>
              <a:t>, true</a:t>
            </a:r>
          </a:p>
          <a:p>
            <a:pPr lvl="1"/>
            <a:r>
              <a:rPr lang="ko-KR" altLang="en-US" dirty="0"/>
              <a:t>실습</a:t>
            </a:r>
            <a:r>
              <a:rPr lang="en-US" altLang="ko-KR" dirty="0"/>
              <a:t>9-16, </a:t>
            </a:r>
            <a:r>
              <a:rPr lang="ko-KR" altLang="en-US" dirty="0"/>
              <a:t>실습 </a:t>
            </a:r>
            <a:r>
              <a:rPr lang="en-US" altLang="ko-KR" dirty="0"/>
              <a:t>9-17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265E43B-DAF7-0C13-E232-00D68228E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212976"/>
            <a:ext cx="4353533" cy="16004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9A9592D-01F7-45F7-4EE9-1E77597F6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69" y="4941168"/>
            <a:ext cx="4829849" cy="15623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6FE970C-5C6F-C2B6-1974-FBA7F4CB4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955" y="3200222"/>
            <a:ext cx="3386460" cy="152113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90853BA-E3E0-6476-97D5-9C5D2145B4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3753" y="5313763"/>
            <a:ext cx="2670864" cy="25078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8BBE102-E3BA-D80D-D558-BD59D92297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9832" y="1199635"/>
            <a:ext cx="1039750" cy="9971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4A0200C-D5A6-3059-6E4E-04A701AF9A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2477" y="1201107"/>
            <a:ext cx="2029724" cy="9956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64408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C20401C-6D72-0750-B853-93E23E03D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12304"/>
          </a:xfrm>
        </p:spPr>
        <p:txBody>
          <a:bodyPr>
            <a:normAutofit/>
          </a:bodyPr>
          <a:lstStyle/>
          <a:p>
            <a:r>
              <a:rPr lang="en-US" altLang="ko-KR"/>
              <a:t>09-3 EXISTS</a:t>
            </a:r>
            <a:r>
              <a:rPr lang="ko-KR" altLang="en-US"/>
              <a:t> 와 상관관계</a:t>
            </a:r>
            <a:endParaRPr lang="ko-KR" altLang="en-US" dirty="0"/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61417E17-9637-45C8-A6AB-656D69CA80C1}"/>
              </a:ext>
            </a:extLst>
          </p:cNvPr>
          <p:cNvSpPr txBox="1"/>
          <p:nvPr/>
        </p:nvSpPr>
        <p:spPr>
          <a:xfrm>
            <a:off x="378401" y="935283"/>
            <a:ext cx="8387198" cy="9233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예제</a:t>
            </a:r>
            <a:r>
              <a:rPr lang="en-US" altLang="ko-KR" dirty="0"/>
              <a:t>&gt;</a:t>
            </a:r>
          </a:p>
          <a:p>
            <a:r>
              <a:rPr lang="ko-KR" altLang="en-US" dirty="0"/>
              <a:t>적어도 한 명 이상의 직원이 속한 부서(</a:t>
            </a:r>
            <a:r>
              <a:rPr lang="ko-KR" altLang="en-US" dirty="0" err="1"/>
              <a:t>dept</a:t>
            </a:r>
            <a:r>
              <a:rPr lang="ko-KR" altLang="en-US" dirty="0"/>
              <a:t>)</a:t>
            </a:r>
            <a:r>
              <a:rPr lang="ko-KR" altLang="en-US"/>
              <a:t>에 해당하는 부서 </a:t>
            </a:r>
            <a:r>
              <a:rPr lang="ko-KR" altLang="en-US" dirty="0"/>
              <a:t>정보를 출력하세요.</a:t>
            </a:r>
          </a:p>
          <a:p>
            <a:r>
              <a:rPr lang="ko-KR" altLang="en-US" dirty="0"/>
              <a:t>(힌트: </a:t>
            </a:r>
            <a:r>
              <a:rPr lang="ko-KR" altLang="en-US" dirty="0" err="1"/>
              <a:t>EXISTS를</a:t>
            </a:r>
            <a:r>
              <a:rPr lang="ko-KR" altLang="en-US" dirty="0"/>
              <a:t> 사용해 </a:t>
            </a:r>
            <a:r>
              <a:rPr lang="ko-KR" altLang="en-US" dirty="0" err="1"/>
              <a:t>서브쿼리</a:t>
            </a:r>
            <a:r>
              <a:rPr lang="ko-KR" altLang="en-US" dirty="0"/>
              <a:t> 작성)</a:t>
            </a:r>
          </a:p>
        </p:txBody>
      </p:sp>
      <p:pic>
        <p:nvPicPr>
          <p:cNvPr id="29911" name="그림 29910">
            <a:extLst>
              <a:ext uri="{FF2B5EF4-FFF2-40B4-BE49-F238E27FC236}">
                <a16:creationId xmlns:a16="http://schemas.microsoft.com/office/drawing/2014/main" id="{AF7D46D1-D94A-42AD-9ABB-6632FC5BD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7" y="4372731"/>
            <a:ext cx="3419952" cy="1057423"/>
          </a:xfrm>
          <a:prstGeom prst="rect">
            <a:avLst/>
          </a:prstGeom>
        </p:spPr>
      </p:pic>
      <p:pic>
        <p:nvPicPr>
          <p:cNvPr id="29913" name="그림 29912">
            <a:extLst>
              <a:ext uri="{FF2B5EF4-FFF2-40B4-BE49-F238E27FC236}">
                <a16:creationId xmlns:a16="http://schemas.microsoft.com/office/drawing/2014/main" id="{DBD12EB8-11AC-4958-9B5F-C810B95E3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442" y="4372731"/>
            <a:ext cx="3134305" cy="160825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D8945F4-5BAE-444E-ABF1-361606046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291" y="1884442"/>
            <a:ext cx="3505689" cy="83831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15622AE-956C-4DD7-8992-4A8A48FBEC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401" y="1884442"/>
            <a:ext cx="3372321" cy="21910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7A81F6-FCCA-C103-F670-9F66E251BBF9}"/>
              </a:ext>
            </a:extLst>
          </p:cNvPr>
          <p:cNvSpPr txBox="1"/>
          <p:nvPr/>
        </p:nvSpPr>
        <p:spPr>
          <a:xfrm>
            <a:off x="1187624" y="4065345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dept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28D3FD-A83A-532F-6A02-5B58C206A7E5}"/>
              </a:ext>
            </a:extLst>
          </p:cNvPr>
          <p:cNvSpPr txBox="1"/>
          <p:nvPr/>
        </p:nvSpPr>
        <p:spPr>
          <a:xfrm>
            <a:off x="4892478" y="400339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emp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243988D-C4BE-7AE7-E67D-0B495E3350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1610" y="2841176"/>
            <a:ext cx="1250509" cy="1426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02683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09-4 </a:t>
            </a:r>
            <a:r>
              <a:rPr lang="ko-KR" altLang="en-US" dirty="0"/>
              <a:t>비교할 열이 여러 개인 </a:t>
            </a:r>
            <a:r>
              <a:rPr lang="ko-KR" altLang="en-US" dirty="0" err="1"/>
              <a:t>다중열</a:t>
            </a:r>
            <a:r>
              <a:rPr lang="ko-KR" altLang="en-US" dirty="0"/>
              <a:t> </a:t>
            </a:r>
            <a:r>
              <a:rPr lang="ko-KR" altLang="en-US" dirty="0" err="1"/>
              <a:t>서브쿼리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다중열</a:t>
            </a:r>
            <a:r>
              <a:rPr lang="ko-KR" altLang="en-US" dirty="0"/>
              <a:t> </a:t>
            </a:r>
            <a:r>
              <a:rPr lang="ko-KR" altLang="en-US" dirty="0" err="1"/>
              <a:t>서브쿼리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 err="1"/>
              <a:t>서브쿼리에</a:t>
            </a:r>
            <a:r>
              <a:rPr lang="ko-KR" altLang="en-US" dirty="0"/>
              <a:t> 여러 열 지정</a:t>
            </a:r>
            <a:endParaRPr lang="en-US" altLang="ko-KR" dirty="0"/>
          </a:p>
          <a:p>
            <a:pPr lvl="1"/>
            <a:r>
              <a:rPr lang="ko-KR" altLang="en-US"/>
              <a:t>메인쿼리의 </a:t>
            </a:r>
            <a:r>
              <a:rPr lang="ko-KR" altLang="en-US" dirty="0"/>
              <a:t>비교 열은 동일한 개수</a:t>
            </a:r>
            <a:r>
              <a:rPr lang="en-US" altLang="ko-KR" dirty="0"/>
              <a:t>, </a:t>
            </a:r>
            <a:r>
              <a:rPr lang="ko-KR" altLang="en-US" dirty="0"/>
              <a:t>동일한 자료형을 괄호로 </a:t>
            </a:r>
            <a:r>
              <a:rPr lang="ko-KR" altLang="en-US"/>
              <a:t>묶어서 지정</a:t>
            </a:r>
            <a:endParaRPr lang="en-US" altLang="ko-KR"/>
          </a:p>
          <a:p>
            <a:pPr lvl="1"/>
            <a:r>
              <a:rPr lang="ko-KR" altLang="en-US"/>
              <a:t>실습 </a:t>
            </a:r>
            <a:r>
              <a:rPr lang="en-US" altLang="ko-KR"/>
              <a:t>9-18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4B4AA0-A381-1722-DEA3-DC11762C5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418" y="5064995"/>
            <a:ext cx="1602670" cy="8266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F2B1386-3C02-2618-06CA-D69EE67FF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12" y="5600695"/>
            <a:ext cx="5188486" cy="826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30ACE01-A5E7-31CD-EF45-48BB93477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912" y="3868365"/>
            <a:ext cx="5058481" cy="16099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109DB85-9C07-ECFC-A34D-CE0A79E4C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5692" y="3184670"/>
            <a:ext cx="2747648" cy="16099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0187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09-5 FROM</a:t>
            </a:r>
            <a:r>
              <a:rPr lang="ko-KR" altLang="en-US" dirty="0"/>
              <a:t>절에 </a:t>
            </a:r>
            <a:r>
              <a:rPr lang="ko-KR" altLang="en-US"/>
              <a:t>사용하는 서브쿼리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FROM </a:t>
            </a:r>
            <a:r>
              <a:rPr lang="ko-KR" altLang="en-US" dirty="0"/>
              <a:t>절에 </a:t>
            </a:r>
            <a:r>
              <a:rPr lang="ko-KR" altLang="en-US"/>
              <a:t>사용하는 서브쿼리</a:t>
            </a:r>
            <a:r>
              <a:rPr lang="en-US" altLang="ko-KR"/>
              <a:t>(</a:t>
            </a:r>
            <a:r>
              <a:rPr lang="ko-KR" altLang="en-US"/>
              <a:t>인라인 뷰</a:t>
            </a:r>
            <a:r>
              <a:rPr lang="en-US" altLang="ko-KR"/>
              <a:t>)</a:t>
            </a:r>
            <a:endParaRPr lang="en-US" altLang="ko-KR" dirty="0"/>
          </a:p>
          <a:p>
            <a:pPr lvl="1"/>
            <a:r>
              <a:rPr lang="ko-KR" altLang="en-US" dirty="0"/>
              <a:t>별칭을 지정하여 </a:t>
            </a:r>
            <a:r>
              <a:rPr lang="ko-KR" altLang="en-US"/>
              <a:t>테이블처럼 사용</a:t>
            </a:r>
            <a:endParaRPr lang="en-US" altLang="ko-KR"/>
          </a:p>
          <a:p>
            <a:pPr lvl="1"/>
            <a:r>
              <a:rPr lang="en-US" altLang="ko-KR"/>
              <a:t>FROM</a:t>
            </a:r>
            <a:r>
              <a:rPr lang="ko-KR" altLang="en-US"/>
              <a:t>절에 직접 테이블을 명시하기 너무 크면 사용</a:t>
            </a:r>
            <a:endParaRPr lang="en-US" altLang="ko-KR" dirty="0"/>
          </a:p>
          <a:p>
            <a:pPr lvl="1"/>
            <a:r>
              <a:rPr lang="ko-KR" altLang="en-US"/>
              <a:t>실습 </a:t>
            </a:r>
            <a:r>
              <a:rPr lang="en-US" altLang="ko-KR"/>
              <a:t>9-19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740C8A-9239-18F4-F521-CFDF46EA5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499" y="5283317"/>
            <a:ext cx="3808917" cy="6238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BF5287D-BEEC-1275-C294-136D884D2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611" y="3822688"/>
            <a:ext cx="2736304" cy="9471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5872DD-6470-08B7-76AF-16B1F62602A9}"/>
              </a:ext>
            </a:extLst>
          </p:cNvPr>
          <p:cNvSpPr txBox="1"/>
          <p:nvPr/>
        </p:nvSpPr>
        <p:spPr>
          <a:xfrm>
            <a:off x="6298920" y="4969516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E10 </a:t>
            </a:r>
            <a:r>
              <a:rPr lang="ko-KR" altLang="en-US"/>
              <a:t>테이블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803092-0F1A-DCFA-6C65-CF420DBE641D}"/>
              </a:ext>
            </a:extLst>
          </p:cNvPr>
          <p:cNvSpPr txBox="1"/>
          <p:nvPr/>
        </p:nvSpPr>
        <p:spPr>
          <a:xfrm>
            <a:off x="6385482" y="3476960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D </a:t>
            </a:r>
            <a:r>
              <a:rPr lang="ko-KR" altLang="en-US"/>
              <a:t>테이블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2732D65-BC22-B46C-C1B2-32EB9EC7D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61" y="5350167"/>
            <a:ext cx="4639322" cy="8764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99EFFCA-121C-D993-192C-2F6FF169D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47149"/>
            <a:ext cx="5696745" cy="13336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84814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09-6 SELECT</a:t>
            </a:r>
            <a:r>
              <a:rPr lang="ko-KR" altLang="en-US" dirty="0"/>
              <a:t>절에 사용하는 </a:t>
            </a:r>
            <a:r>
              <a:rPr lang="ko-KR" altLang="en-US" dirty="0" err="1"/>
              <a:t>서브쿼리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SELECT</a:t>
            </a:r>
            <a:r>
              <a:rPr lang="ko-KR" altLang="en-US"/>
              <a:t>절에 사용 </a:t>
            </a:r>
            <a:r>
              <a:rPr lang="en-US" altLang="ko-KR"/>
              <a:t>: </a:t>
            </a:r>
            <a:r>
              <a:rPr lang="ko-KR" altLang="en-US"/>
              <a:t>스칼라 서브쿼리</a:t>
            </a:r>
            <a:endParaRPr lang="en-US" altLang="ko-KR"/>
          </a:p>
          <a:p>
            <a:r>
              <a:rPr lang="ko-KR" altLang="en-US"/>
              <a:t>하나의 </a:t>
            </a:r>
            <a:r>
              <a:rPr lang="ko-KR" altLang="en-US" dirty="0"/>
              <a:t>열 영역으로 사용</a:t>
            </a:r>
            <a:endParaRPr lang="en-US" altLang="ko-KR" dirty="0"/>
          </a:p>
          <a:p>
            <a:r>
              <a:rPr lang="ko-KR" altLang="en-US"/>
              <a:t>하나의 결과</a:t>
            </a:r>
            <a:r>
              <a:rPr lang="en-US" altLang="ko-KR"/>
              <a:t>(</a:t>
            </a:r>
            <a:r>
              <a:rPr lang="ko-KR" altLang="en-US"/>
              <a:t>스칼라 값</a:t>
            </a:r>
            <a:r>
              <a:rPr lang="en-US" altLang="ko-KR"/>
              <a:t>)</a:t>
            </a:r>
            <a:r>
              <a:rPr lang="ko-KR" altLang="en-US"/>
              <a:t>를 반환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9A73D13-3D66-818C-C2D3-49934EB8A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4509120"/>
            <a:ext cx="3258005" cy="8954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752630E-259A-FD09-99E7-6E7525185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708920"/>
            <a:ext cx="6516009" cy="15908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43682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52F9D-80A7-5E4F-6E68-4771F6A20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77E832-A151-68A9-A2C8-C69F8272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09-6 SELECT</a:t>
            </a:r>
            <a:r>
              <a:rPr lang="ko-KR" altLang="en-US" dirty="0"/>
              <a:t>절에 사용하는 </a:t>
            </a:r>
            <a:r>
              <a:rPr lang="ko-KR" altLang="en-US" dirty="0" err="1"/>
              <a:t>서브쿼리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387026-3572-CBD1-88FF-4E02B3C2F28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ko-KR" altLang="en-US"/>
              <a:t>실습 </a:t>
            </a:r>
            <a:r>
              <a:rPr lang="en-US" altLang="ko-KR"/>
              <a:t>9-21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E7C911-6DC9-2636-A7ED-2ED5A8B85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700808"/>
            <a:ext cx="6001588" cy="26483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590FF79-286B-BC5C-BD0B-CD19CE77F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4405711"/>
            <a:ext cx="5160747" cy="22739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82054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원본">
  <a:themeElements>
    <a:clrScheme name="원본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원본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원본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1436</TotalTime>
  <Words>674</Words>
  <Application>Microsoft Office PowerPoint</Application>
  <PresentationFormat>화면 슬라이드 쇼(4:3)</PresentationFormat>
  <Paragraphs>160</Paragraphs>
  <Slides>23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맑은 고딕</vt:lpstr>
      <vt:lpstr>Bookman Old Style</vt:lpstr>
      <vt:lpstr>Gill Sans MT</vt:lpstr>
      <vt:lpstr>Wingdings</vt:lpstr>
      <vt:lpstr>Wingdings 3</vt:lpstr>
      <vt:lpstr>원본</vt:lpstr>
      <vt:lpstr>Chap09. SQL문 속 또 다른 SQL문, 서브쿼리</vt:lpstr>
      <vt:lpstr>09-1 서브쿼리</vt:lpstr>
      <vt:lpstr>09-1 서브쿼리</vt:lpstr>
      <vt:lpstr>09-1 서브쿼리</vt:lpstr>
      <vt:lpstr>09-2 실행 결과가 하나인 단일행 서브쿼리</vt:lpstr>
      <vt:lpstr>09-2 실행 결과가 하나인 단일행 서브쿼리</vt:lpstr>
      <vt:lpstr>09-3 실행 결과가 여러 개인 다중행 서브쿼리</vt:lpstr>
      <vt:lpstr>09-3 실행 결과가 여러 개인 다중행 서브쿼리</vt:lpstr>
      <vt:lpstr>09-3 실행 결과가 여러 개인 다중행 서브쿼리</vt:lpstr>
      <vt:lpstr>09-3 실행 결과가 여러 개인 다중행 서브쿼리</vt:lpstr>
      <vt:lpstr>09-3 실행 결과가 여러 개인 다중행 서브쿼리</vt:lpstr>
      <vt:lpstr>09-3 실행 결과가 여러 개인 다중행 서브쿼리</vt:lpstr>
      <vt:lpstr>09-3 실행 결과가 여러 개인 다중행 서브쿼리</vt:lpstr>
      <vt:lpstr>09-3 실행 결과가 여러 개인 다중행 서브쿼리</vt:lpstr>
      <vt:lpstr>09-3 실행 결과가 여러 개인 다중행 서브쿼리</vt:lpstr>
      <vt:lpstr>[참고] 상관관계 서브쿼리(예제-&gt;)</vt:lpstr>
      <vt:lpstr>[참고] 상관관계 서브쿼리</vt:lpstr>
      <vt:lpstr>09-3 실행 결과가 여러 개인 다중행 서브쿼리</vt:lpstr>
      <vt:lpstr>09-3 EXISTS 와 상관관계</vt:lpstr>
      <vt:lpstr>09-4 비교할 열이 여러 개인 다중열 서브쿼리</vt:lpstr>
      <vt:lpstr>09-5 FROM절에 사용하는 서브쿼리</vt:lpstr>
      <vt:lpstr>09-6 SELECT절에 사용하는 서브쿼리</vt:lpstr>
      <vt:lpstr>09-6 SELECT절에 사용하는 서브쿼리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Chap01</dc:title>
  <dc:creator>Microsoft Corporation</dc:creator>
  <cp:lastModifiedBy>218</cp:lastModifiedBy>
  <cp:revision>160</cp:revision>
  <dcterms:created xsi:type="dcterms:W3CDTF">2006-10-05T04:04:58Z</dcterms:created>
  <dcterms:modified xsi:type="dcterms:W3CDTF">2026-05-02T06:22:40Z</dcterms:modified>
</cp:coreProperties>
</file>