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9" r:id="rId13"/>
    <p:sldId id="270" r:id="rId14"/>
    <p:sldId id="266" r:id="rId15"/>
    <p:sldId id="267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>
      <p:cViewPr varScale="1">
        <p:scale>
          <a:sx n="73" d="100"/>
          <a:sy n="73" d="100"/>
        </p:scale>
        <p:origin x="60" y="8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Chap06. </a:t>
            </a:r>
            <a:r>
              <a:rPr lang="ko-KR" altLang="en-US" dirty="0"/>
              <a:t>데이터 처리와 가공을 위한 </a:t>
            </a:r>
            <a:br>
              <a:rPr lang="en-US" altLang="ko-KR" dirty="0"/>
            </a:br>
            <a:r>
              <a:rPr lang="ko-KR" altLang="en-US" dirty="0"/>
              <a:t>오라클 함수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06-1 </a:t>
            </a:r>
            <a:r>
              <a:rPr lang="ko-KR" altLang="en-US"/>
              <a:t>오라클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오라클 함수의 종류</a:t>
            </a:r>
            <a:endParaRPr lang="en-US" altLang="ko-KR" dirty="0"/>
          </a:p>
          <a:p>
            <a:pPr lvl="1"/>
            <a:r>
              <a:rPr lang="ko-KR" altLang="en-US" dirty="0"/>
              <a:t>내장 함수</a:t>
            </a:r>
            <a:r>
              <a:rPr lang="en-US" altLang="ko-KR" dirty="0"/>
              <a:t>(built-in function)</a:t>
            </a:r>
          </a:p>
          <a:p>
            <a:pPr lvl="1"/>
            <a:r>
              <a:rPr lang="ko-KR" altLang="en-US" dirty="0"/>
              <a:t>사용자 정의 함수</a:t>
            </a:r>
            <a:r>
              <a:rPr lang="en-US" altLang="ko-KR" dirty="0"/>
              <a:t>(user-defined function)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12" y="1800200"/>
            <a:ext cx="2295512" cy="2132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77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06-1 </a:t>
            </a:r>
            <a:r>
              <a:rPr lang="ko-KR" altLang="en-US"/>
              <a:t>오라클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내장</a:t>
            </a:r>
            <a:r>
              <a:rPr lang="en-US" altLang="ko-KR"/>
              <a:t> </a:t>
            </a:r>
            <a:r>
              <a:rPr lang="ko-KR" altLang="en-US"/>
              <a:t>함수의 종류</a:t>
            </a:r>
            <a:endParaRPr lang="en-US" altLang="ko-KR"/>
          </a:p>
          <a:p>
            <a:pPr lvl="1"/>
            <a:r>
              <a:rPr lang="ko-KR" altLang="en-US"/>
              <a:t>단일행 함수</a:t>
            </a:r>
            <a:r>
              <a:rPr lang="en-US" altLang="ko-KR"/>
              <a:t>(single-row function)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다중행 함수</a:t>
            </a:r>
            <a:r>
              <a:rPr lang="en-US" altLang="ko-KR"/>
              <a:t>(multiple-row function)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5699920" cy="1506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25144"/>
            <a:ext cx="5760640" cy="1472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69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06-2 </a:t>
            </a:r>
            <a:r>
              <a:rPr lang="ko-KR" altLang="en-US"/>
              <a:t>문자 데이터를 가공하는 문자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UPPER,LOWER,INITCAP : </a:t>
            </a:r>
            <a:r>
              <a:rPr lang="ko-KR" altLang="en-US" dirty="0"/>
              <a:t>대소문자 변환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6-3</a:t>
            </a:r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LENGTH</a:t>
            </a:r>
            <a:r>
              <a:rPr lang="en-US" altLang="ko-KR" dirty="0"/>
              <a:t> : </a:t>
            </a:r>
            <a:r>
              <a:rPr lang="ko-KR" altLang="en-US" dirty="0"/>
              <a:t>문자열 길이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6-4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6-5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6-6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56AFAC-E118-4E17-0BCB-16CF26E6D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700808"/>
            <a:ext cx="504056" cy="535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218FA0-83CE-29A6-8D37-7468611C5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954700"/>
            <a:ext cx="1345272" cy="5633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8B6233-1103-954F-A47E-6677CA9B4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727" y="2518033"/>
            <a:ext cx="1330602" cy="536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92E96C-F348-25D4-3613-5D6BFD355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381" y="3834808"/>
            <a:ext cx="417082" cy="723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038613C-6D88-0FD0-A99C-CF8D277B6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840" y="4196663"/>
            <a:ext cx="574379" cy="760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CAD6AF3-A183-A80A-BB97-BF8E6E428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154" y="5157192"/>
            <a:ext cx="1710255" cy="869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364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06-2 </a:t>
            </a:r>
            <a:r>
              <a:rPr lang="ko-KR" altLang="en-US"/>
              <a:t>문자 데이터를 가공하는 문자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5486400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SUBSTR</a:t>
            </a:r>
            <a:r>
              <a:rPr lang="en-US" altLang="ko-KR" dirty="0"/>
              <a:t> : </a:t>
            </a:r>
            <a:r>
              <a:rPr lang="ko-KR" altLang="en-US" dirty="0"/>
              <a:t>문자열 일부 추출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6-7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INSTR  : </a:t>
            </a:r>
            <a:r>
              <a:rPr lang="ko-KR" altLang="en-US" dirty="0"/>
              <a:t>문자열 데이터 내 특정 문자 위치 찾기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6-9 , </a:t>
            </a:r>
            <a:r>
              <a:rPr lang="ko-KR" altLang="en-US" dirty="0"/>
              <a:t>실습 </a:t>
            </a:r>
            <a:r>
              <a:rPr lang="en-US" altLang="ko-KR" dirty="0"/>
              <a:t>6-10, </a:t>
            </a:r>
            <a:r>
              <a:rPr lang="ko-KR" altLang="en-US" dirty="0"/>
              <a:t>실습 </a:t>
            </a:r>
            <a:r>
              <a:rPr lang="en-US" altLang="ko-KR" dirty="0"/>
              <a:t>6-11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REPLACE : </a:t>
            </a:r>
            <a:r>
              <a:rPr lang="ko-KR" altLang="en-US" dirty="0"/>
              <a:t>특정 문자를 다른 문자로 대체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6-12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7272808" cy="20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DD06E9-B14A-F090-E428-4EC55770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3603343"/>
            <a:ext cx="764021" cy="718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B89EF3-4AE0-F5BF-9A22-C1C4C8961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115616" y="5248231"/>
            <a:ext cx="874440" cy="3905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897B0-B932-5A14-8271-F0B82F397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385" y="5248231"/>
            <a:ext cx="806412" cy="455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20F75D-4BBB-E22B-3932-EE32883D6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4985" y="5278735"/>
            <a:ext cx="758740" cy="4250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22B8566-68C7-FE4F-92FA-0D9BE06E80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2542959" y="6235046"/>
            <a:ext cx="1050871" cy="5467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7699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06-2 </a:t>
            </a:r>
            <a:r>
              <a:rPr lang="ko-KR" altLang="en-US"/>
              <a:t>문자 데이터를 가공하는 문자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LPAD, RPAD : </a:t>
            </a:r>
            <a:r>
              <a:rPr lang="ko-KR" altLang="en-US" dirty="0"/>
              <a:t>데이터의 빈 공간 채우기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6-13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6-14</a:t>
            </a:r>
          </a:p>
          <a:p>
            <a:endParaRPr lang="en-US" altLang="ko-KR" dirty="0"/>
          </a:p>
          <a:p>
            <a:r>
              <a:rPr lang="en-US" altLang="ko-KR" dirty="0"/>
              <a:t>CONCAT : </a:t>
            </a:r>
            <a:r>
              <a:rPr lang="ko-KR" altLang="en-US" dirty="0"/>
              <a:t>두 문자열 데이터를 합치기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6-15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TRIM</a:t>
            </a:r>
            <a:r>
              <a:rPr lang="en-US" altLang="ko-KR" dirty="0"/>
              <a:t>, LTRIM, RTRIM : </a:t>
            </a:r>
            <a:r>
              <a:rPr lang="ko-KR" altLang="en-US" dirty="0"/>
              <a:t>특정 문자 지우기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6-16</a:t>
            </a:r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EEBB7E-D182-D88C-05C0-B62D49D1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772816"/>
            <a:ext cx="1012591" cy="642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0BF1D7-65C3-2CD0-5C82-A5113BA9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480813"/>
            <a:ext cx="1008112" cy="571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C41AD64-5DFA-1EBB-9547-F433A5AF7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9" y="3602991"/>
            <a:ext cx="1512168" cy="745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41670E-77DC-BF61-AA75-59E37660A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674" y="5318792"/>
            <a:ext cx="1952616" cy="833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837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06-3 </a:t>
            </a:r>
            <a:r>
              <a:rPr lang="ko-KR" altLang="en-US"/>
              <a:t>숫자 데이터를 연산하고 수치를 조정하는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ko-KR" altLang="en-US"/>
              <a:t>    숫자함수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ROUND</a:t>
            </a:r>
            <a:r>
              <a:rPr lang="en-US" altLang="ko-KR" dirty="0"/>
              <a:t> : </a:t>
            </a:r>
            <a:r>
              <a:rPr lang="ko-KR" altLang="en-US" dirty="0"/>
              <a:t>반올림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6-19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TRUNC</a:t>
            </a:r>
            <a:r>
              <a:rPr lang="en-US" altLang="ko-KR" dirty="0"/>
              <a:t> </a:t>
            </a:r>
            <a:r>
              <a:rPr lang="en-US" altLang="ko-KR"/>
              <a:t>: </a:t>
            </a:r>
            <a:r>
              <a:rPr lang="ko-KR" altLang="en-US"/>
              <a:t>무조건 버림</a:t>
            </a:r>
            <a:r>
              <a:rPr lang="en-US" altLang="ko-KR" dirty="0"/>
              <a:t>(</a:t>
            </a:r>
            <a:r>
              <a:rPr lang="ko-KR" altLang="en-US" dirty="0"/>
              <a:t>절삭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D9102D-F92B-B93C-A075-C803770D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2" y="1700808"/>
            <a:ext cx="6571760" cy="189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D34605-5343-A510-647A-D1A4E1620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410" y="4441496"/>
            <a:ext cx="6064681" cy="17851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A07F7B-DD91-B83F-AE35-1179B9ED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36" y="2289793"/>
            <a:ext cx="1401489" cy="7182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3C82AF6-F8B6-9CAA-C181-3D33FCA1D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4778544"/>
            <a:ext cx="1675906" cy="8602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44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9B1C-4F93-C978-3D93-F779F592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D5F7C-D66C-0E13-CA88-F5212B93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06-3 </a:t>
            </a:r>
            <a:r>
              <a:rPr lang="ko-KR" altLang="en-US"/>
              <a:t>숫자 데이터를 연산하고 수치를 조정하는</a:t>
            </a:r>
            <a:br>
              <a:rPr lang="en-US" altLang="ko-KR"/>
            </a:br>
            <a:r>
              <a:rPr lang="en-US" altLang="ko-KR"/>
              <a:t>    </a:t>
            </a:r>
            <a:r>
              <a:rPr lang="ko-KR" altLang="en-US"/>
              <a:t>    숫자함수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6B9EE-F1C3-BB21-9FD8-DA82418F0A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CEIL : </a:t>
            </a:r>
            <a:r>
              <a:rPr lang="ko-KR" altLang="en-US" dirty="0"/>
              <a:t>지정된 숫자와 가장 가까운 큰 정수</a:t>
            </a:r>
            <a:endParaRPr lang="en-US" altLang="ko-KR" dirty="0"/>
          </a:p>
          <a:p>
            <a:r>
              <a:rPr lang="en-US" altLang="ko-KR" dirty="0"/>
              <a:t>FLOOR :  </a:t>
            </a:r>
            <a:r>
              <a:rPr lang="ko-KR" altLang="en-US" dirty="0"/>
              <a:t>지정된 숫자와 가장 가까운 작은 정수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MOD : </a:t>
            </a:r>
            <a:r>
              <a:rPr lang="ko-KR" altLang="en-US" dirty="0"/>
              <a:t>숫자를 나눈 나머지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8F934F-9DD0-DC96-BF21-681CF10EB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276872"/>
            <a:ext cx="1223851" cy="7380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B6154A-587D-D275-3B5C-E26D7157A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365104"/>
            <a:ext cx="1837742" cy="14636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771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06-4 </a:t>
            </a:r>
            <a:r>
              <a:rPr lang="ko-KR" altLang="en-US"/>
              <a:t>날짜 데이터를 다루는 날짜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오라클의 </a:t>
            </a:r>
            <a:r>
              <a:rPr lang="en-US" altLang="ko-KR" dirty="0"/>
              <a:t>DATE </a:t>
            </a:r>
            <a:r>
              <a:rPr lang="ko-KR" altLang="en-US" dirty="0"/>
              <a:t>데이터의 연산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SYSDATE</a:t>
            </a:r>
            <a:r>
              <a:rPr lang="en-US" altLang="ko-KR" dirty="0"/>
              <a:t> : </a:t>
            </a:r>
            <a:r>
              <a:rPr lang="ko-KR" altLang="en-US" dirty="0"/>
              <a:t>현재 날짜와 시간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6-23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772816"/>
            <a:ext cx="7848872" cy="2872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588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06-4 </a:t>
            </a:r>
            <a:r>
              <a:rPr lang="ko-KR" altLang="en-US"/>
              <a:t>날짜 데이터를 다루는 날짜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ADD_MONTHS : </a:t>
            </a:r>
            <a:r>
              <a:rPr lang="ko-KR" altLang="en-US" dirty="0"/>
              <a:t>몇 개월 이후 날짜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6-24, </a:t>
            </a:r>
            <a:r>
              <a:rPr lang="ko-KR" altLang="en-US"/>
              <a:t>실습 </a:t>
            </a:r>
            <a:r>
              <a:rPr lang="en-US" altLang="ko-KR"/>
              <a:t>6-25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MONTHS_BETWEEN : </a:t>
            </a:r>
            <a:r>
              <a:rPr lang="ko-KR" altLang="en-US" dirty="0"/>
              <a:t>두 날짜 간의 </a:t>
            </a:r>
            <a:r>
              <a:rPr lang="ko-KR" altLang="en-US" dirty="0" err="1"/>
              <a:t>개월수</a:t>
            </a:r>
            <a:r>
              <a:rPr lang="ko-KR" altLang="en-US" dirty="0"/>
              <a:t> 차이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6-27</a:t>
            </a:r>
          </a:p>
          <a:p>
            <a:endParaRPr lang="en-US" altLang="ko-KR" dirty="0"/>
          </a:p>
          <a:p>
            <a:r>
              <a:rPr lang="en-US" altLang="ko-KR" dirty="0"/>
              <a:t>NEXT_DAY : </a:t>
            </a:r>
            <a:r>
              <a:rPr lang="ko-KR" altLang="en-US"/>
              <a:t>돌아오는 요일</a:t>
            </a:r>
            <a:endParaRPr lang="en-US" altLang="ko-KR" dirty="0"/>
          </a:p>
          <a:p>
            <a:r>
              <a:rPr lang="en-US" altLang="ko-KR" dirty="0"/>
              <a:t>LAST_DAY : </a:t>
            </a:r>
            <a:r>
              <a:rPr lang="ko-KR" altLang="en-US" dirty="0"/>
              <a:t>달의 마지막 날짜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6-28</a:t>
            </a:r>
          </a:p>
        </p:txBody>
      </p:sp>
    </p:spTree>
    <p:extLst>
      <p:ext uri="{BB962C8B-B14F-4D97-AF65-F5344CB8AC3E}">
        <p14:creationId xmlns:p14="http://schemas.microsoft.com/office/powerpoint/2010/main" val="130032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06-5 </a:t>
            </a:r>
            <a:r>
              <a:rPr lang="ko-KR" altLang="en-US"/>
              <a:t>자료형을 반환하는 형 변환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자동형변환 </a:t>
            </a:r>
            <a:r>
              <a:rPr lang="en-US" altLang="ko-KR" dirty="0"/>
              <a:t>: </a:t>
            </a:r>
            <a:r>
              <a:rPr lang="ko-KR" altLang="en-US" dirty="0"/>
              <a:t>문자열</a:t>
            </a:r>
            <a:r>
              <a:rPr lang="en-US" altLang="ko-KR" dirty="0"/>
              <a:t>(</a:t>
            </a:r>
            <a:r>
              <a:rPr lang="ko-KR" altLang="en-US" dirty="0"/>
              <a:t>숫자</a:t>
            </a:r>
            <a:r>
              <a:rPr lang="en-US" altLang="ko-KR" dirty="0"/>
              <a:t>)+ </a:t>
            </a:r>
            <a:r>
              <a:rPr lang="ko-KR" altLang="en-US" dirty="0"/>
              <a:t>숫자 </a:t>
            </a:r>
            <a:r>
              <a:rPr lang="en-US" altLang="ko-KR" dirty="0"/>
              <a:t>= &gt; </a:t>
            </a:r>
            <a:r>
              <a:rPr lang="ko-KR" altLang="en-US" dirty="0"/>
              <a:t>숫자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6-31, </a:t>
            </a:r>
            <a:r>
              <a:rPr lang="ko-KR" altLang="en-US" dirty="0"/>
              <a:t>실습 </a:t>
            </a:r>
            <a:r>
              <a:rPr lang="en-US" altLang="ko-KR" dirty="0"/>
              <a:t>6-32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87FC3-05F0-61B8-0FC5-D526FFE0D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7261391" cy="12222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260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AE1C-AB23-F19E-6D4C-8DD6CECD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81A1A0-D5E3-8739-D1FB-A23B6651E2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3136" y="1203006"/>
            <a:ext cx="8229600" cy="5502593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TO_CHAR : </a:t>
            </a:r>
            <a:r>
              <a:rPr lang="ko-KR" altLang="en-US" dirty="0">
                <a:solidFill>
                  <a:srgbClr val="FF0000"/>
                </a:solidFill>
              </a:rPr>
              <a:t>숫자</a:t>
            </a:r>
            <a:r>
              <a:rPr lang="ko-KR" altLang="en-US" dirty="0"/>
              <a:t> 또는 </a:t>
            </a:r>
            <a:r>
              <a:rPr lang="ko-KR" altLang="en-US" dirty="0">
                <a:solidFill>
                  <a:srgbClr val="FF0000"/>
                </a:solidFill>
              </a:rPr>
              <a:t>날짜 데이터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rgbClr val="FF0000"/>
                </a:solidFill>
              </a:rPr>
              <a:t>문자 데이터</a:t>
            </a:r>
            <a:r>
              <a:rPr lang="ko-KR" altLang="en-US" dirty="0"/>
              <a:t>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/>
          </a:p>
          <a:p>
            <a:endParaRPr lang="en-US" altLang="ko-KR"/>
          </a:p>
          <a:p>
            <a:endParaRPr lang="en-US" altLang="ko-KR" dirty="0"/>
          </a:p>
          <a:p>
            <a:pPr lvl="1"/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6-33, </a:t>
            </a:r>
            <a:r>
              <a:rPr lang="ko-KR" altLang="en-US"/>
              <a:t>실습 </a:t>
            </a:r>
            <a:r>
              <a:rPr lang="en-US" altLang="ko-KR"/>
              <a:t>34, </a:t>
            </a:r>
            <a:r>
              <a:rPr lang="ko-KR" altLang="en-US"/>
              <a:t>실습</a:t>
            </a:r>
            <a:r>
              <a:rPr lang="en-US" altLang="ko-KR"/>
              <a:t>6-37,</a:t>
            </a:r>
            <a:r>
              <a:rPr lang="ko-KR" altLang="en-US"/>
              <a:t> 실습 </a:t>
            </a:r>
            <a:r>
              <a:rPr lang="en-US" altLang="ko-KR"/>
              <a:t>6-38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0A0B493-2F59-406B-EB1B-4F46BBC15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508" y="3573016"/>
            <a:ext cx="4163400" cy="27613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0AE388-E084-285A-23C3-0A213E22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06-5 </a:t>
            </a:r>
            <a:r>
              <a:rPr lang="ko-KR" altLang="en-US"/>
              <a:t>자료형을 반환하는 형 변환 함수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D67A31-7C0C-B011-F54B-B417F15A2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04"/>
          <a:stretch/>
        </p:blipFill>
        <p:spPr>
          <a:xfrm>
            <a:off x="4755051" y="1546260"/>
            <a:ext cx="4114800" cy="21192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3C64E6-D049-AFEE-0C1F-9649917B81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10"/>
          <a:stretch/>
        </p:blipFill>
        <p:spPr>
          <a:xfrm>
            <a:off x="457201" y="1700808"/>
            <a:ext cx="3931750" cy="422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0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DD94-6283-963A-4892-80316860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AAF89-8D2C-CBC8-1092-FE1A635F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06-5 </a:t>
            </a:r>
            <a:r>
              <a:rPr lang="ko-KR" altLang="en-US"/>
              <a:t>자료형을 반환하는 형 변환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BAB4D5-3EA9-8A71-6BBC-DBFA4D17AC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658072"/>
          </a:xfrm>
        </p:spPr>
        <p:txBody>
          <a:bodyPr>
            <a:normAutofit/>
          </a:bodyPr>
          <a:lstStyle/>
          <a:p>
            <a:r>
              <a:rPr lang="en-US" altLang="ko-KR" dirty="0"/>
              <a:t>TO_NUMBER : </a:t>
            </a:r>
            <a:r>
              <a:rPr lang="ko-KR" altLang="en-US" dirty="0"/>
              <a:t>문자 데이터를 </a:t>
            </a:r>
            <a:r>
              <a:rPr lang="ko-KR" altLang="en-US"/>
              <a:t>숫자 데이터로</a:t>
            </a:r>
            <a:endParaRPr lang="en-US" altLang="ko-KR"/>
          </a:p>
          <a:p>
            <a:r>
              <a:rPr lang="ko-KR" altLang="en-US"/>
              <a:t>실습 </a:t>
            </a:r>
            <a:r>
              <a:rPr lang="en-US" altLang="ko-KR"/>
              <a:t>6-39, </a:t>
            </a:r>
            <a:r>
              <a:rPr lang="ko-KR" altLang="en-US"/>
              <a:t>실습 </a:t>
            </a:r>
            <a:r>
              <a:rPr lang="en-US" altLang="ko-KR"/>
              <a:t>6-40, </a:t>
            </a:r>
            <a:r>
              <a:rPr lang="ko-KR" altLang="en-US"/>
              <a:t>실습 </a:t>
            </a:r>
            <a:r>
              <a:rPr lang="en-US" altLang="ko-KR"/>
              <a:t>6-41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TO</a:t>
            </a:r>
            <a:r>
              <a:rPr lang="en-US" altLang="ko-KR"/>
              <a:t>_DATE : </a:t>
            </a:r>
            <a:r>
              <a:rPr lang="ko-KR" altLang="en-US">
                <a:solidFill>
                  <a:srgbClr val="FF0000"/>
                </a:solidFill>
              </a:rPr>
              <a:t>문자 데이터</a:t>
            </a:r>
            <a:r>
              <a:rPr lang="ko-KR" altLang="en-US"/>
              <a:t>를 </a:t>
            </a:r>
            <a:r>
              <a:rPr lang="ko-KR" altLang="en-US">
                <a:solidFill>
                  <a:srgbClr val="FF0000"/>
                </a:solidFill>
              </a:rPr>
              <a:t>날짜 데이터</a:t>
            </a:r>
            <a:r>
              <a:rPr lang="ko-KR" altLang="en-US"/>
              <a:t>로</a:t>
            </a:r>
            <a:endParaRPr lang="en-US" altLang="ko-KR"/>
          </a:p>
          <a:p>
            <a:r>
              <a:rPr lang="ko-KR" altLang="en-US"/>
              <a:t>실습 </a:t>
            </a:r>
            <a:r>
              <a:rPr lang="en-US" altLang="ko-KR"/>
              <a:t>6-42, </a:t>
            </a:r>
            <a:r>
              <a:rPr lang="ko-KR" altLang="en-US"/>
              <a:t>실습 </a:t>
            </a:r>
            <a:r>
              <a:rPr lang="en-US" altLang="ko-KR"/>
              <a:t>6-43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371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06-6 NULL </a:t>
            </a:r>
            <a:r>
              <a:rPr lang="ko-KR" altLang="en-US"/>
              <a:t>처리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NVL</a:t>
            </a:r>
            <a:r>
              <a:rPr lang="en-US" altLang="ko-KR"/>
              <a:t> : NULL</a:t>
            </a:r>
            <a:r>
              <a:rPr lang="ko-KR" altLang="en-US"/>
              <a:t>이 아니면 그대로</a:t>
            </a:r>
            <a:r>
              <a:rPr lang="en-US" altLang="ko-KR"/>
              <a:t>, NULL</a:t>
            </a:r>
            <a:r>
              <a:rPr lang="ko-KR" altLang="en-US"/>
              <a:t>이면 지정한 값</a:t>
            </a:r>
            <a:endParaRPr lang="en-US" altLang="ko-KR"/>
          </a:p>
          <a:p>
            <a:pPr marL="0" indent="0">
              <a:buNone/>
            </a:pPr>
            <a:r>
              <a:rPr lang="en-US" altLang="ko-KR" sz="2000"/>
              <a:t>   NVL(</a:t>
            </a:r>
            <a:r>
              <a:rPr lang="ko-KR" altLang="en-US" sz="2000"/>
              <a:t>열</a:t>
            </a:r>
            <a:r>
              <a:rPr lang="en-US" altLang="ko-KR" sz="2000"/>
              <a:t>, </a:t>
            </a:r>
            <a:r>
              <a:rPr lang="ko-KR" altLang="en-US" sz="2000"/>
              <a:t>널일 경우 반환할 데이터</a:t>
            </a:r>
            <a:r>
              <a:rPr lang="en-US" altLang="ko-KR" sz="2000"/>
              <a:t>) – </a:t>
            </a:r>
            <a:r>
              <a:rPr lang="ko-KR" altLang="en-US" sz="2000"/>
              <a:t>인수 </a:t>
            </a:r>
            <a:r>
              <a:rPr lang="en-US" altLang="ko-KR" sz="2000"/>
              <a:t>2</a:t>
            </a:r>
            <a:r>
              <a:rPr lang="ko-KR" altLang="en-US" sz="2000"/>
              <a:t>개</a:t>
            </a:r>
            <a:endParaRPr lang="en-US" altLang="ko-KR" sz="2000"/>
          </a:p>
          <a:p>
            <a:pPr lvl="1"/>
            <a:r>
              <a:rPr lang="ko-KR" altLang="en-US"/>
              <a:t>실습 </a:t>
            </a:r>
            <a:r>
              <a:rPr lang="en-US" altLang="ko-KR"/>
              <a:t>6-45</a:t>
            </a:r>
          </a:p>
          <a:p>
            <a:endParaRPr lang="en-US" altLang="ko-KR"/>
          </a:p>
          <a:p>
            <a:r>
              <a:rPr lang="en-US" altLang="ko-KR">
                <a:solidFill>
                  <a:srgbClr val="FF0000"/>
                </a:solidFill>
              </a:rPr>
              <a:t>NVL2</a:t>
            </a:r>
            <a:r>
              <a:rPr lang="en-US" altLang="ko-KR"/>
              <a:t> : NULL</a:t>
            </a:r>
            <a:r>
              <a:rPr lang="ko-KR" altLang="en-US"/>
              <a:t>이 아닐때와 </a:t>
            </a:r>
            <a:r>
              <a:rPr lang="en-US" altLang="ko-KR"/>
              <a:t>NULL</a:t>
            </a:r>
            <a:r>
              <a:rPr lang="ko-KR" altLang="en-US"/>
              <a:t>일때 각각 지정한 값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en-US" altLang="ko-KR" sz="2000"/>
              <a:t>NVL2(</a:t>
            </a:r>
            <a:r>
              <a:rPr lang="ko-KR" altLang="en-US" sz="2000"/>
              <a:t>열</a:t>
            </a:r>
            <a:r>
              <a:rPr lang="en-US" altLang="ko-KR" sz="2000"/>
              <a:t>, </a:t>
            </a:r>
            <a:r>
              <a:rPr lang="ko-KR" altLang="en-US" sz="2000"/>
              <a:t>널이 </a:t>
            </a:r>
            <a:r>
              <a:rPr lang="ko-KR" altLang="en-US" sz="2000" u="sng"/>
              <a:t>아닐경우 </a:t>
            </a:r>
            <a:r>
              <a:rPr lang="ko-KR" altLang="en-US" sz="2000"/>
              <a:t>반환할 데이터</a:t>
            </a:r>
            <a:r>
              <a:rPr lang="en-US" altLang="ko-KR" sz="2000"/>
              <a:t>, </a:t>
            </a:r>
            <a:r>
              <a:rPr lang="ko-KR" altLang="en-US" sz="2000"/>
              <a:t>널일 경우 반환할 데이터</a:t>
            </a:r>
            <a:r>
              <a:rPr lang="en-US" altLang="ko-KR" sz="2000"/>
              <a:t>) – </a:t>
            </a:r>
            <a:r>
              <a:rPr lang="ko-KR" altLang="en-US" sz="2000"/>
              <a:t>인수 </a:t>
            </a:r>
            <a:r>
              <a:rPr lang="en-US" altLang="ko-KR" sz="2000"/>
              <a:t>3</a:t>
            </a:r>
            <a:r>
              <a:rPr lang="ko-KR" altLang="en-US" sz="2000"/>
              <a:t>개</a:t>
            </a:r>
            <a:endParaRPr lang="en-US" altLang="ko-KR" sz="2000"/>
          </a:p>
          <a:p>
            <a:pPr lvl="1"/>
            <a:r>
              <a:rPr lang="ko-KR" altLang="en-US"/>
              <a:t>실습 </a:t>
            </a:r>
            <a:r>
              <a:rPr lang="en-US" altLang="ko-KR"/>
              <a:t>6-46</a:t>
            </a:r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428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06-7 </a:t>
            </a:r>
            <a:r>
              <a:rPr lang="ko-KR" altLang="en-US"/>
              <a:t>상황에 따라 다른 데이터를 반환하는</a:t>
            </a:r>
            <a:br>
              <a:rPr lang="en-US" altLang="ko-KR"/>
            </a:br>
            <a:r>
              <a:rPr lang="en-US" altLang="ko-KR"/>
              <a:t>        DECODE </a:t>
            </a:r>
            <a:r>
              <a:rPr lang="ko-KR" altLang="en-US"/>
              <a:t>함수와 </a:t>
            </a:r>
            <a:r>
              <a:rPr lang="en-US" altLang="ko-KR"/>
              <a:t>CASE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795320" cy="4937760"/>
          </a:xfrm>
        </p:spPr>
        <p:txBody>
          <a:bodyPr>
            <a:normAutofit/>
          </a:bodyPr>
          <a:lstStyle/>
          <a:p>
            <a:endParaRPr lang="en-US" altLang="ko-KR"/>
          </a:p>
          <a:p>
            <a:r>
              <a:rPr lang="en-US" altLang="ko-KR">
                <a:solidFill>
                  <a:srgbClr val="FF0000"/>
                </a:solidFill>
              </a:rPr>
              <a:t>DECODE</a:t>
            </a:r>
          </a:p>
          <a:p>
            <a:pPr lvl="1"/>
            <a:r>
              <a:rPr lang="ko-KR" altLang="en-US"/>
              <a:t>기준 데이터를 지정</a:t>
            </a:r>
            <a:r>
              <a:rPr lang="en-US" altLang="ko-KR"/>
              <a:t>, </a:t>
            </a:r>
            <a:r>
              <a:rPr lang="ko-KR" altLang="en-US"/>
              <a:t>기준 데이터에 따라 반환할 데이터 지정</a:t>
            </a:r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6-47</a:t>
            </a:r>
          </a:p>
          <a:p>
            <a:endParaRPr lang="en-US" altLang="ko-KR"/>
          </a:p>
          <a:p>
            <a:r>
              <a:rPr lang="en-US" altLang="ko-KR">
                <a:solidFill>
                  <a:srgbClr val="FF0000"/>
                </a:solidFill>
              </a:rPr>
              <a:t>CASE</a:t>
            </a:r>
          </a:p>
          <a:p>
            <a:pPr lvl="1"/>
            <a:r>
              <a:rPr lang="ko-KR" altLang="en-US"/>
              <a:t>기준 데이터를 지정하는 방식</a:t>
            </a:r>
            <a:endParaRPr lang="en-US" altLang="ko-KR"/>
          </a:p>
          <a:p>
            <a:pPr lvl="1"/>
            <a:r>
              <a:rPr lang="ko-KR" altLang="en-US"/>
              <a:t>기준 데이터를 지정하지 않는 방식</a:t>
            </a:r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6-48, </a:t>
            </a:r>
            <a:r>
              <a:rPr lang="ko-KR" altLang="en-US"/>
              <a:t>실습 </a:t>
            </a:r>
            <a:r>
              <a:rPr lang="en-US" altLang="ko-KR"/>
              <a:t>6-49</a:t>
            </a:r>
          </a:p>
          <a:p>
            <a:pPr lvl="1"/>
            <a:endParaRPr lang="en-US" altLang="ko-KR"/>
          </a:p>
          <a:p>
            <a:pPr marL="0" indent="0">
              <a:buNone/>
            </a:pPr>
            <a:r>
              <a:rPr lang="ko-KR" altLang="en-US"/>
              <a:t>         </a:t>
            </a:r>
            <a:r>
              <a:rPr lang="ko-KR" altLang="en-US">
                <a:solidFill>
                  <a:srgbClr val="FF0000"/>
                </a:solidFill>
              </a:rPr>
              <a:t>둘다 조건별로 동일한 자료형의 데이터를 반환</a:t>
            </a:r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DC6D539E-97FF-1987-A100-C772695AB0C4}"/>
              </a:ext>
            </a:extLst>
          </p:cNvPr>
          <p:cNvSpPr/>
          <p:nvPr/>
        </p:nvSpPr>
        <p:spPr>
          <a:xfrm>
            <a:off x="527335" y="5578640"/>
            <a:ext cx="792272" cy="51816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주의</a:t>
            </a:r>
          </a:p>
        </p:txBody>
      </p:sp>
    </p:spTree>
    <p:extLst>
      <p:ext uri="{BB962C8B-B14F-4D97-AF65-F5344CB8AC3E}">
        <p14:creationId xmlns:p14="http://schemas.microsoft.com/office/powerpoint/2010/main" val="2791839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817</TotalTime>
  <Words>465</Words>
  <Application>Microsoft Office PowerPoint</Application>
  <PresentationFormat>화면 슬라이드 쇼(4:3)</PresentationFormat>
  <Paragraphs>137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Bookman Old Style</vt:lpstr>
      <vt:lpstr>Gill Sans MT</vt:lpstr>
      <vt:lpstr>Wingdings</vt:lpstr>
      <vt:lpstr>Wingdings 3</vt:lpstr>
      <vt:lpstr>원본</vt:lpstr>
      <vt:lpstr>Chap06. 데이터 처리와 가공을 위한  오라클 함수</vt:lpstr>
      <vt:lpstr>06-1 오라클 함수</vt:lpstr>
      <vt:lpstr>06-1 오라클 함수</vt:lpstr>
      <vt:lpstr>06-2 문자 데이터를 가공하는 문자 함수</vt:lpstr>
      <vt:lpstr>06-2 문자 데이터를 가공하는 문자 함수</vt:lpstr>
      <vt:lpstr>06-2 문자 데이터를 가공하는 문자 함수</vt:lpstr>
      <vt:lpstr>06-3 숫자 데이터를 연산하고 수치를 조정하는         숫자함수</vt:lpstr>
      <vt:lpstr>06-3 숫자 데이터를 연산하고 수치를 조정하는         숫자함수</vt:lpstr>
      <vt:lpstr>06-4 날짜 데이터를 다루는 날짜 함수</vt:lpstr>
      <vt:lpstr>06-4 날짜 데이터를 다루는 날짜 함수</vt:lpstr>
      <vt:lpstr>06-5 자료형을 반환하는 형 변환 함수</vt:lpstr>
      <vt:lpstr>06-5 자료형을 반환하는 형 변환 함수</vt:lpstr>
      <vt:lpstr>06-5 자료형을 반환하는 형 변환 함수</vt:lpstr>
      <vt:lpstr>06-6 NULL 처리 함수</vt:lpstr>
      <vt:lpstr>06-7 상황에 따라 다른 데이터를 반환하는         DECODE 함수와 CASE문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Chap01</dc:title>
  <dc:creator>Microsoft Corporation</dc:creator>
  <cp:lastModifiedBy>218</cp:lastModifiedBy>
  <cp:revision>84</cp:revision>
  <dcterms:created xsi:type="dcterms:W3CDTF">2006-10-05T04:04:58Z</dcterms:created>
  <dcterms:modified xsi:type="dcterms:W3CDTF">2026-03-28T06:49:53Z</dcterms:modified>
</cp:coreProperties>
</file>