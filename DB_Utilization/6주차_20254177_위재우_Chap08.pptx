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  <p:sldId id="257" r:id="rId3"/>
    <p:sldId id="262" r:id="rId4"/>
    <p:sldId id="263" r:id="rId5"/>
    <p:sldId id="266" r:id="rId6"/>
    <p:sldId id="270" r:id="rId7"/>
    <p:sldId id="269" r:id="rId8"/>
    <p:sldId id="267" r:id="rId9"/>
    <p:sldId id="268" r:id="rId10"/>
    <p:sldId id="271" r:id="rId11"/>
    <p:sldId id="264" r:id="rId12"/>
    <p:sldId id="265" r:id="rId13"/>
    <p:sldId id="272" r:id="rId1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95" autoAdjust="0"/>
    <p:restoredTop sz="94660"/>
  </p:normalViewPr>
  <p:slideViewPr>
    <p:cSldViewPr>
      <p:cViewPr varScale="1">
        <p:scale>
          <a:sx n="64" d="100"/>
          <a:sy n="64" d="100"/>
        </p:scale>
        <p:origin x="78" y="10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/>
              <a:t>마스터 부제목 스타일 편집</a:t>
            </a:r>
            <a:endParaRPr kumimoji="0" lang="en-US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FB30EDBD-1C2D-4C1E-B459-B60219FAB484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직사각형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직사각형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직사각형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FB30EDBD-1C2D-4C1E-B459-B60219FAB484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이등변 삼각형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선 연결선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이등변 삼각형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선 연결선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직선 연결선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이등변 삼각형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내용 개체 틀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선 연결선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이등변 삼각형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선 연결선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이등변 삼각형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선 연결선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/>
              <a:t>둘째 수준</a:t>
            </a:r>
          </a:p>
          <a:p>
            <a:pPr lvl="2" eaLnBrk="1" latinLnBrk="0" hangingPunct="1"/>
            <a:r>
              <a:rPr kumimoji="0" lang="ko-KR" altLang="en-US"/>
              <a:t>셋째 수준</a:t>
            </a:r>
          </a:p>
          <a:p>
            <a:pPr lvl="3" eaLnBrk="1" latinLnBrk="0" hangingPunct="1"/>
            <a:r>
              <a:rPr kumimoji="0" lang="ko-KR" altLang="en-US"/>
              <a:t>넷째 수준</a:t>
            </a:r>
          </a:p>
          <a:p>
            <a:pPr lvl="4" eaLnBrk="1" latinLnBrk="0" hangingPunct="1"/>
            <a:r>
              <a:rPr kumimoji="0" lang="ko-KR" altLang="en-US"/>
              <a:t>다섯째 수준</a:t>
            </a:r>
            <a:endParaRPr kumimoji="0" lang="en-US"/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8" name="직선 연결선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직선 연결선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이등변 삼각형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rtl="0" eaLnBrk="1" latinLnBrk="1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1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1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1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1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1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1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1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1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1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Chap08. </a:t>
            </a:r>
            <a:r>
              <a:rPr lang="ko-KR" altLang="en-US" dirty="0"/>
              <a:t>여러 테이블을 하나의 </a:t>
            </a:r>
            <a:br>
              <a:rPr lang="en-US" altLang="ko-KR" dirty="0"/>
            </a:br>
            <a:r>
              <a:rPr lang="ko-KR" altLang="en-US" dirty="0"/>
              <a:t>테이블처럼 사용하는 조인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4008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969D5AFB-E1EE-3352-6366-0AEAE8962BFA}"/>
              </a:ext>
            </a:extLst>
          </p:cNvPr>
          <p:cNvGrpSpPr/>
          <p:nvPr/>
        </p:nvGrpSpPr>
        <p:grpSpPr>
          <a:xfrm>
            <a:off x="1907704" y="2204864"/>
            <a:ext cx="4799443" cy="2019924"/>
            <a:chOff x="3444965" y="2633212"/>
            <a:chExt cx="5696747" cy="2232751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629800FF-C619-6BD6-7F78-695F5596D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44965" y="2639438"/>
              <a:ext cx="5696747" cy="2226525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83F219F8-BC1E-2D7E-5990-FDA41986E0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43211" y="2633212"/>
              <a:ext cx="2314589" cy="213498"/>
            </a:xfrm>
            <a:prstGeom prst="rect">
              <a:avLst/>
            </a:prstGeom>
          </p:spPr>
        </p:pic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08-1 </a:t>
            </a:r>
            <a:r>
              <a:rPr lang="ko-KR" altLang="en-US"/>
              <a:t>조인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집합 연산자와 조인의 차이점</a:t>
            </a:r>
            <a:endParaRPr lang="en-US" altLang="ko-KR"/>
          </a:p>
          <a:p>
            <a:pPr lvl="1"/>
            <a:r>
              <a:rPr lang="ko-KR" altLang="en-US"/>
              <a:t>집합 연산자 </a:t>
            </a:r>
            <a:r>
              <a:rPr lang="en-US" altLang="ko-KR"/>
              <a:t>: </a:t>
            </a:r>
            <a:r>
              <a:rPr lang="ko-KR" altLang="en-US"/>
              <a:t>세로 연결</a:t>
            </a:r>
            <a:endParaRPr lang="en-US" altLang="ko-KR"/>
          </a:p>
          <a:p>
            <a:pPr lvl="1"/>
            <a:r>
              <a:rPr lang="ko-KR" altLang="en-US"/>
              <a:t>조인 </a:t>
            </a:r>
            <a:r>
              <a:rPr lang="en-US" altLang="ko-KR"/>
              <a:t>: </a:t>
            </a:r>
            <a:r>
              <a:rPr lang="ko-KR" altLang="en-US"/>
              <a:t>가로 연결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r>
              <a:rPr lang="en-US" altLang="ko-KR"/>
              <a:t>FROM </a:t>
            </a:r>
            <a:r>
              <a:rPr lang="ko-KR" altLang="en-US"/>
              <a:t>절에 여러 테이블 지정</a:t>
            </a:r>
            <a:endParaRPr lang="en-US" altLang="ko-KR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869160"/>
            <a:ext cx="5400600" cy="1007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5779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08-1 </a:t>
            </a:r>
            <a:r>
              <a:rPr lang="ko-KR" altLang="en-US"/>
              <a:t>조인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1268760"/>
            <a:ext cx="8229600" cy="5436840"/>
          </a:xfrm>
        </p:spPr>
        <p:txBody>
          <a:bodyPr>
            <a:normAutofit fontScale="77500" lnSpcReduction="20000"/>
          </a:bodyPr>
          <a:lstStyle/>
          <a:p>
            <a:r>
              <a:rPr lang="en-US" altLang="ko-KR">
                <a:solidFill>
                  <a:srgbClr val="FF0000"/>
                </a:solidFill>
              </a:rPr>
              <a:t>WHERE</a:t>
            </a:r>
            <a:r>
              <a:rPr lang="ko-KR" altLang="en-US">
                <a:solidFill>
                  <a:srgbClr val="FF0000"/>
                </a:solidFill>
              </a:rPr>
              <a:t>절</a:t>
            </a:r>
            <a:r>
              <a:rPr lang="ko-KR" altLang="en-US"/>
              <a:t>을 활용한 </a:t>
            </a:r>
            <a:r>
              <a:rPr lang="ko-KR" altLang="en-US">
                <a:solidFill>
                  <a:srgbClr val="FF0000"/>
                </a:solidFill>
              </a:rPr>
              <a:t>조인 조건 </a:t>
            </a:r>
            <a:r>
              <a:rPr lang="ko-KR" altLang="en-US"/>
              <a:t>사용의 중요성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r>
              <a:rPr lang="ko-KR" altLang="en-US"/>
              <a:t>실습 </a:t>
            </a:r>
            <a:r>
              <a:rPr lang="en-US" altLang="ko-KR"/>
              <a:t>8-1, </a:t>
            </a:r>
            <a:r>
              <a:rPr lang="ko-KR" altLang="en-US"/>
              <a:t>실습 </a:t>
            </a:r>
            <a:r>
              <a:rPr lang="en-US" altLang="ko-KR"/>
              <a:t>8-2</a:t>
            </a:r>
          </a:p>
          <a:p>
            <a:r>
              <a:rPr lang="ko-KR" altLang="en-US"/>
              <a:t>테이블의 별칭 설정</a:t>
            </a:r>
            <a:endParaRPr lang="en-US" altLang="ko-KR"/>
          </a:p>
          <a:p>
            <a:pPr lvl="1"/>
            <a:r>
              <a:rPr lang="ko-KR" altLang="en-US"/>
              <a:t>실습 </a:t>
            </a:r>
            <a:r>
              <a:rPr lang="en-US" altLang="ko-KR"/>
              <a:t>8-3</a:t>
            </a:r>
          </a:p>
          <a:p>
            <a:endParaRPr lang="en-US" altLang="ko-K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700808"/>
            <a:ext cx="7704856" cy="3716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669A4F8-9C7C-CBD9-5028-894E8F0B4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6083560"/>
            <a:ext cx="1200034" cy="747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61644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08-2 </a:t>
            </a:r>
            <a:r>
              <a:rPr lang="ko-KR" altLang="en-US"/>
              <a:t>조인 종류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등가 조인</a:t>
            </a:r>
            <a:r>
              <a:rPr lang="en-US" altLang="ko-KR" dirty="0"/>
              <a:t> : ‘=‘ </a:t>
            </a:r>
            <a:r>
              <a:rPr lang="ko-KR" altLang="en-US" dirty="0"/>
              <a:t>사용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비등가</a:t>
            </a:r>
            <a:r>
              <a:rPr lang="ko-KR" altLang="en-US" dirty="0"/>
              <a:t> 조인 </a:t>
            </a:r>
            <a:r>
              <a:rPr lang="en-US" altLang="ko-KR" dirty="0"/>
              <a:t>: </a:t>
            </a:r>
            <a:r>
              <a:rPr lang="ko-KR" altLang="en-US" dirty="0"/>
              <a:t>등가 조인 외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>
                <a:solidFill>
                  <a:srgbClr val="FF0000"/>
                </a:solidFill>
              </a:rPr>
              <a:t>자체 조인 </a:t>
            </a:r>
            <a:r>
              <a:rPr lang="en-US" altLang="ko-KR" dirty="0"/>
              <a:t>: </a:t>
            </a:r>
            <a:r>
              <a:rPr lang="ko-KR" altLang="en-US" dirty="0"/>
              <a:t>하나의 테이블을 여러 테이블처럼 사용</a:t>
            </a:r>
            <a:endParaRPr lang="en-US" altLang="ko-KR" dirty="0"/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외부 조인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조인 조건의 </a:t>
            </a:r>
            <a:r>
              <a:rPr lang="en-US" altLang="ko-KR" dirty="0">
                <a:solidFill>
                  <a:srgbClr val="FF0000"/>
                </a:solidFill>
              </a:rPr>
              <a:t>NULL</a:t>
            </a:r>
            <a:r>
              <a:rPr lang="en-US" altLang="ko-KR" dirty="0"/>
              <a:t> </a:t>
            </a:r>
            <a:r>
              <a:rPr lang="ko-KR" altLang="en-US" dirty="0"/>
              <a:t>데이터도 출력</a:t>
            </a:r>
            <a:endParaRPr lang="en-US" altLang="ko-KR" dirty="0">
              <a:solidFill>
                <a:srgbClr val="FF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581129"/>
            <a:ext cx="7848872" cy="1180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40538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182B0-F399-A999-1412-72A90D357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0929F8-6740-CD7C-7334-C0600D25E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08-2 </a:t>
            </a:r>
            <a:r>
              <a:rPr lang="ko-KR" altLang="en-US"/>
              <a:t>조인 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B47F27-C3A2-2C5D-3124-438A88AC13F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378152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등가 조인</a:t>
            </a:r>
            <a:r>
              <a:rPr lang="en-US" altLang="ko-KR" dirty="0"/>
              <a:t> : ‘=‘ </a:t>
            </a:r>
            <a:r>
              <a:rPr lang="ko-KR" altLang="en-US" dirty="0"/>
              <a:t>사용</a:t>
            </a:r>
            <a:r>
              <a:rPr lang="en-US" altLang="ko-KR" dirty="0"/>
              <a:t>(</a:t>
            </a:r>
            <a:r>
              <a:rPr lang="ko-KR" altLang="en-US" dirty="0"/>
              <a:t>가장 많이 사용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내부조인</a:t>
            </a:r>
            <a:r>
              <a:rPr lang="en-US" altLang="ko-KR" dirty="0"/>
              <a:t>, </a:t>
            </a:r>
            <a:r>
              <a:rPr lang="ko-KR" altLang="en-US" dirty="0"/>
              <a:t>단순 조인</a:t>
            </a:r>
            <a:endParaRPr lang="en-US" altLang="ko-KR" dirty="0"/>
          </a:p>
          <a:p>
            <a:r>
              <a:rPr lang="ko-KR" altLang="en-US" dirty="0"/>
              <a:t>특정 </a:t>
            </a:r>
            <a:r>
              <a:rPr lang="ko-KR" altLang="en-US" dirty="0" err="1"/>
              <a:t>열값이</a:t>
            </a:r>
            <a:r>
              <a:rPr lang="ko-KR" altLang="en-US" dirty="0"/>
              <a:t> 일치한 출력 결과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여러 테이블의 열 이름이 같을 때 유의점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8-4, </a:t>
            </a:r>
            <a:r>
              <a:rPr lang="ko-KR" altLang="en-US" dirty="0"/>
              <a:t>실습 </a:t>
            </a:r>
            <a:r>
              <a:rPr lang="en-US" altLang="ko-KR" dirty="0"/>
              <a:t>8-5 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 WHERE</a:t>
            </a:r>
            <a:r>
              <a:rPr lang="ko-KR" altLang="en-US" dirty="0"/>
              <a:t>절에 조건식 추가하여 출력 범위 설정하기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8-6</a:t>
            </a:r>
          </a:p>
          <a:p>
            <a:pPr lvl="1"/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AC1D949-0412-1099-CD16-83D265503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864" y="3573016"/>
            <a:ext cx="720917" cy="88774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61290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B7E03-1533-9114-2479-5F515F1C3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AFBA5D-3C86-B527-37FE-807F11446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08-2 </a:t>
            </a:r>
            <a:r>
              <a:rPr lang="ko-KR" altLang="en-US"/>
              <a:t>조인 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87FC6C-B819-D6B2-257F-77A3E53A52D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olidFill>
                  <a:srgbClr val="FF0000"/>
                </a:solidFill>
              </a:rPr>
              <a:t>등가 조인</a:t>
            </a:r>
            <a:r>
              <a:rPr lang="en-US" altLang="ko-KR"/>
              <a:t> : ‘=‘ </a:t>
            </a:r>
            <a:r>
              <a:rPr lang="ko-KR" altLang="en-US"/>
              <a:t>사용</a:t>
            </a:r>
            <a:r>
              <a:rPr lang="en-US" altLang="ko-KR"/>
              <a:t>(</a:t>
            </a:r>
            <a:r>
              <a:rPr lang="ko-KR" altLang="en-US"/>
              <a:t>가장 많이 사용</a:t>
            </a:r>
            <a:r>
              <a:rPr lang="en-US" altLang="ko-KR"/>
              <a:t>)</a:t>
            </a:r>
          </a:p>
          <a:p>
            <a:endParaRPr lang="en-US" altLang="ko-KR"/>
          </a:p>
          <a:p>
            <a:r>
              <a:rPr lang="ko-KR" altLang="en-US"/>
              <a:t>예제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 EMP</a:t>
            </a:r>
            <a:r>
              <a:rPr lang="ko-KR" altLang="en-US"/>
              <a:t>테이블 별칭을 </a:t>
            </a:r>
            <a:r>
              <a:rPr lang="en-US" altLang="ko-KR"/>
              <a:t>E</a:t>
            </a:r>
            <a:r>
              <a:rPr lang="ko-KR" altLang="en-US"/>
              <a:t>로</a:t>
            </a:r>
            <a:r>
              <a:rPr lang="en-US" altLang="ko-KR"/>
              <a:t>, DEPT</a:t>
            </a:r>
            <a:r>
              <a:rPr lang="ko-KR" altLang="en-US"/>
              <a:t> 테이블 별칭은 </a:t>
            </a:r>
            <a:r>
              <a:rPr lang="en-US" altLang="ko-KR"/>
              <a:t>D</a:t>
            </a:r>
            <a:r>
              <a:rPr lang="ko-KR" altLang="en-US"/>
              <a:t>로 하여 등가 조인을 했을때 급여가 </a:t>
            </a:r>
            <a:r>
              <a:rPr lang="en-US" altLang="ko-KR"/>
              <a:t>2500</a:t>
            </a:r>
            <a:r>
              <a:rPr lang="ko-KR" altLang="en-US"/>
              <a:t>이하이고 사원 번호가 </a:t>
            </a:r>
            <a:r>
              <a:rPr lang="en-US" altLang="ko-KR"/>
              <a:t>9999</a:t>
            </a:r>
            <a:r>
              <a:rPr lang="ko-KR" altLang="en-US"/>
              <a:t>이하인 사원의 정보가 출력되도록 하시오</a:t>
            </a:r>
            <a:r>
              <a:rPr lang="en-US" altLang="ko-KR"/>
              <a:t>.</a:t>
            </a:r>
          </a:p>
          <a:p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EF82B80-0698-F19F-1C7F-AE15597E0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3983886"/>
            <a:ext cx="5891999" cy="224927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A5BBD39-B77D-21F0-1F02-330ECE015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1700808"/>
            <a:ext cx="1241223" cy="97725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48370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EDB8D-7E67-E993-224D-59B8A1F36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53D1B5-1013-B0AC-6194-5FF8B6CB3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08-2 </a:t>
            </a:r>
            <a:r>
              <a:rPr lang="ko-KR" altLang="en-US"/>
              <a:t>조인 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44FF74-4727-38CE-74F2-51103E470E5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 err="1"/>
              <a:t>비등가</a:t>
            </a:r>
            <a:r>
              <a:rPr lang="ko-KR" altLang="en-US" dirty="0"/>
              <a:t> 조인 </a:t>
            </a:r>
            <a:r>
              <a:rPr lang="en-US" altLang="ko-KR" dirty="0"/>
              <a:t>: </a:t>
            </a:r>
            <a:r>
              <a:rPr lang="ko-KR" altLang="en-US" dirty="0"/>
              <a:t>등가 조인 외 </a:t>
            </a:r>
            <a:r>
              <a:rPr lang="en-US" altLang="ko-KR" dirty="0"/>
              <a:t>– </a:t>
            </a:r>
            <a:r>
              <a:rPr lang="ko-KR" altLang="en-US" dirty="0"/>
              <a:t>자주 사용하지 않음</a:t>
            </a:r>
            <a:endParaRPr lang="en-US" altLang="ko-KR" dirty="0"/>
          </a:p>
          <a:p>
            <a:pPr lvl="1"/>
            <a:r>
              <a:rPr lang="ko-KR" altLang="en-US" dirty="0"/>
              <a:t>만약</a:t>
            </a:r>
            <a:r>
              <a:rPr lang="en-US" altLang="ko-KR" dirty="0"/>
              <a:t>, </a:t>
            </a:r>
            <a:r>
              <a:rPr lang="ko-KR" altLang="en-US" dirty="0"/>
              <a:t>각 사원 정보와 더불어 사원의 급여 등급 정보를 함께 출력한다면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8-7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44FA138-50F7-BB29-AD9F-CE07DAE0D4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84" t="2013"/>
          <a:stretch/>
        </p:blipFill>
        <p:spPr>
          <a:xfrm>
            <a:off x="595502" y="2492896"/>
            <a:ext cx="5737639" cy="265099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672C564-8E55-2307-4168-68D478CCDE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32"/>
          <a:stretch/>
        </p:blipFill>
        <p:spPr>
          <a:xfrm>
            <a:off x="6669457" y="2708920"/>
            <a:ext cx="1904145" cy="128605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3DF16A5-3718-4416-F8E3-B88D13888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752" y="5330875"/>
            <a:ext cx="2080081" cy="136228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34677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A8E84-9607-1DB9-1B99-5A18EF911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6A6F67-E97E-59DE-9941-D709ADD6D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08-2 </a:t>
            </a:r>
            <a:r>
              <a:rPr lang="ko-KR" altLang="en-US"/>
              <a:t>조인 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1F2826-2E55-2367-2511-64907721C1E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자체 조인 </a:t>
            </a:r>
            <a:r>
              <a:rPr lang="en-US" altLang="ko-KR" dirty="0"/>
              <a:t>: </a:t>
            </a:r>
            <a:r>
              <a:rPr lang="ko-KR" altLang="en-US" dirty="0"/>
              <a:t>하나의 테이블을 여러 테이블처럼 사용</a:t>
            </a:r>
            <a:endParaRPr lang="en-US" altLang="ko-KR" dirty="0"/>
          </a:p>
          <a:p>
            <a:pPr lvl="1"/>
            <a:r>
              <a:rPr lang="ko-KR" altLang="en-US" dirty="0"/>
              <a:t>사원 정보와 사원의 직속 상관의 사원번호를 나란히 출력해야 하는 경우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8-8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CBBFECB-7FDF-D5DB-3981-08FADA821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924944"/>
            <a:ext cx="3901510" cy="178521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C517C75-857C-B0A9-E2D9-074EE657D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924944"/>
            <a:ext cx="3901510" cy="17852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CD53A5F-1C55-63F1-15E5-9ED67BA8B402}"/>
              </a:ext>
            </a:extLst>
          </p:cNvPr>
          <p:cNvSpPr txBox="1"/>
          <p:nvPr/>
        </p:nvSpPr>
        <p:spPr>
          <a:xfrm>
            <a:off x="2218275" y="4755832"/>
            <a:ext cx="4572000" cy="1477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/>
              <a:t>SELECT E1.EMPNO, E1.ENAME, E1.MGR,</a:t>
            </a:r>
          </a:p>
          <a:p>
            <a:r>
              <a:rPr lang="ko-KR" altLang="en-US"/>
              <a:t>       E2.EMPNO AS MGR_EMPNO,</a:t>
            </a:r>
          </a:p>
          <a:p>
            <a:r>
              <a:rPr lang="ko-KR" altLang="en-US"/>
              <a:t>       E2.ENAME AS MGR_ENAME</a:t>
            </a:r>
          </a:p>
          <a:p>
            <a:r>
              <a:rPr lang="ko-KR" altLang="en-US"/>
              <a:t>  FROM EMP E1, EMP E2</a:t>
            </a:r>
          </a:p>
          <a:p>
            <a:r>
              <a:rPr lang="ko-KR" altLang="en-US"/>
              <a:t> WHERE E1.MGR = E2.EMPNO;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FDA13F3-24C0-5132-FEE9-995581785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3460" y="2102168"/>
            <a:ext cx="1040508" cy="76914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09617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98814-F30C-FBA7-2F25-5B7FFF1A5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2DD936-13A8-8C03-6721-D8D4BF7CD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08-2 </a:t>
            </a:r>
            <a:r>
              <a:rPr lang="ko-KR" altLang="en-US"/>
              <a:t>조인 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16A119-CA8D-FBD6-88B0-0536F36D9ED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외부 조인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조인 조건의 </a:t>
            </a:r>
            <a:r>
              <a:rPr lang="en-US" altLang="ko-KR" dirty="0">
                <a:solidFill>
                  <a:srgbClr val="FF0000"/>
                </a:solidFill>
              </a:rPr>
              <a:t>NULL</a:t>
            </a:r>
            <a:r>
              <a:rPr lang="en-US" altLang="ko-KR" dirty="0"/>
              <a:t> </a:t>
            </a:r>
            <a:r>
              <a:rPr lang="ko-KR" altLang="en-US" dirty="0"/>
              <a:t>데이터도 출력</a:t>
            </a:r>
            <a:endParaRPr lang="en-US" altLang="ko-KR" dirty="0"/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8-8</a:t>
            </a:r>
            <a:r>
              <a:rPr lang="ko-KR" altLang="en-US" dirty="0"/>
              <a:t>의 건수 </a:t>
            </a:r>
            <a:r>
              <a:rPr lang="en-US" altLang="ko-KR" dirty="0"/>
              <a:t>11</a:t>
            </a:r>
            <a:r>
              <a:rPr lang="ko-KR" altLang="en-US" dirty="0"/>
              <a:t>건</a:t>
            </a:r>
            <a:r>
              <a:rPr lang="en-US" altLang="ko-KR" dirty="0"/>
              <a:t>, EMP</a:t>
            </a:r>
            <a:r>
              <a:rPr lang="ko-KR" altLang="en-US" dirty="0"/>
              <a:t>의 총 건수는 </a:t>
            </a:r>
            <a:r>
              <a:rPr lang="en-US" altLang="ko-KR" dirty="0"/>
              <a:t>12</a:t>
            </a:r>
            <a:r>
              <a:rPr lang="ko-KR" altLang="en-US" dirty="0"/>
              <a:t>건인데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8-9 (</a:t>
            </a:r>
            <a:r>
              <a:rPr lang="ko-KR" altLang="en-US" dirty="0"/>
              <a:t>매니저가 없는 가장 높은 직급까지 출력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8-10 (</a:t>
            </a:r>
            <a:r>
              <a:rPr lang="ko-KR" altLang="en-US" dirty="0"/>
              <a:t>부하직원이 없는 가장 낮은 직급까지 출력</a:t>
            </a:r>
            <a:r>
              <a:rPr lang="en-US" altLang="ko-KR" dirty="0"/>
              <a:t>)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DB19C39-15C0-FD1F-D423-168593DC6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700808"/>
            <a:ext cx="7848872" cy="1180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6CA15F8-15FB-59E9-28CC-AD1371BAC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204" y="4417777"/>
            <a:ext cx="1665144" cy="18153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606F9CD-D849-DF28-0FD5-E5349E43A0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963" y="4427852"/>
            <a:ext cx="2146940" cy="18088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46161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346F4-B285-6A75-BFFF-95FE19949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DBFCB4-2ACD-F404-1E0C-DA7942128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08-2 </a:t>
            </a:r>
            <a:r>
              <a:rPr lang="ko-KR" altLang="en-US"/>
              <a:t>조인 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A1E272-4DA1-E4AE-7F7F-0F9C116457B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olidFill>
                  <a:srgbClr val="FF0000"/>
                </a:solidFill>
              </a:rPr>
              <a:t>외부 조인</a:t>
            </a:r>
            <a:r>
              <a:rPr lang="ko-KR" altLang="en-US"/>
              <a:t> </a:t>
            </a:r>
            <a:r>
              <a:rPr lang="en-US" altLang="ko-KR"/>
              <a:t>: </a:t>
            </a:r>
            <a:r>
              <a:rPr lang="ko-KR" altLang="en-US"/>
              <a:t>조인 조건의 </a:t>
            </a:r>
            <a:r>
              <a:rPr lang="en-US" altLang="ko-KR">
                <a:solidFill>
                  <a:srgbClr val="FF0000"/>
                </a:solidFill>
              </a:rPr>
              <a:t>NULL</a:t>
            </a:r>
            <a:r>
              <a:rPr lang="en-US" altLang="ko-KR"/>
              <a:t> </a:t>
            </a:r>
            <a:r>
              <a:rPr lang="ko-KR" altLang="en-US"/>
              <a:t>데이터도 출력</a:t>
            </a:r>
            <a:endParaRPr lang="en-US" altLang="ko-KR"/>
          </a:p>
          <a:p>
            <a:endParaRPr lang="en-US" altLang="ko-KR">
              <a:solidFill>
                <a:srgbClr val="FF0000"/>
              </a:solidFill>
            </a:endParaRPr>
          </a:p>
          <a:p>
            <a:endParaRPr lang="en-US" altLang="ko-KR">
              <a:solidFill>
                <a:srgbClr val="FF0000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3B47897-C1C8-0A16-26D3-433605C1E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700808"/>
            <a:ext cx="7848872" cy="1180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0C59BF4-C131-ECFB-1EC2-AB999B90C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2957355"/>
            <a:ext cx="5566800" cy="170928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A1E0165-C5CF-A34D-6F1E-149AEA39C7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672" y="4666635"/>
            <a:ext cx="5766938" cy="185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807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08-3 SQL-99 </a:t>
            </a:r>
            <a:r>
              <a:rPr lang="ko-KR" altLang="en-US" dirty="0"/>
              <a:t>표준 문법으로 배우는 조인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JOIN ~ ON : </a:t>
            </a:r>
            <a:r>
              <a:rPr lang="ko-KR" altLang="en-US" dirty="0"/>
              <a:t>조인 조건 직접 명시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실습 </a:t>
            </a:r>
            <a:r>
              <a:rPr lang="en-US" altLang="ko-KR" dirty="0"/>
              <a:t>8-13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A67637-6B19-1462-BA3B-71A507A45AA0}"/>
              </a:ext>
            </a:extLst>
          </p:cNvPr>
          <p:cNvSpPr txBox="1"/>
          <p:nvPr/>
        </p:nvSpPr>
        <p:spPr>
          <a:xfrm>
            <a:off x="457200" y="1916832"/>
            <a:ext cx="8568952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FROM TABLE1 JOIN TABLE2 ON (</a:t>
            </a:r>
            <a:r>
              <a:rPr lang="ko-KR" altLang="en-US" sz="3200" dirty="0"/>
              <a:t>조인 조건식</a:t>
            </a:r>
            <a:r>
              <a:rPr lang="en-US" altLang="ko-KR" sz="3200" dirty="0"/>
              <a:t>)</a:t>
            </a:r>
            <a:endParaRPr lang="ko-KR" altLang="en-US" sz="32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698AEAD-55A7-6B86-5B93-6B98564C3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2682147"/>
            <a:ext cx="5338936" cy="35510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2531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08-3 SQL-99 </a:t>
            </a:r>
            <a:r>
              <a:rPr lang="ko-KR" altLang="en-US"/>
              <a:t>표준 문법으로 배우는 조인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OUTER JOIN : </a:t>
            </a:r>
            <a:r>
              <a:rPr lang="ko-KR" altLang="en-US"/>
              <a:t>외부 조인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ko-KR" altLang="en-US"/>
              <a:t>실습 </a:t>
            </a:r>
            <a:r>
              <a:rPr lang="en-US" altLang="ko-KR"/>
              <a:t>8-14, </a:t>
            </a:r>
            <a:r>
              <a:rPr lang="ko-KR" altLang="en-US"/>
              <a:t>실습 </a:t>
            </a:r>
            <a:r>
              <a:rPr lang="en-US" altLang="ko-KR"/>
              <a:t>8-15, </a:t>
            </a:r>
            <a:r>
              <a:rPr lang="ko-KR" altLang="en-US"/>
              <a:t>실습 </a:t>
            </a:r>
            <a:r>
              <a:rPr lang="en-US" altLang="ko-KR"/>
              <a:t>8-16</a:t>
            </a:r>
          </a:p>
          <a:p>
            <a:endParaRPr lang="en-US" altLang="ko-K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59" y="1682296"/>
            <a:ext cx="7554655" cy="2970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2629380-1B96-4169-CF48-15F2790D2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5316211"/>
            <a:ext cx="1142036" cy="9665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1160BAB-1F2A-123D-6944-49BC6D5BD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5776" y="5316210"/>
            <a:ext cx="894974" cy="9665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1A5FBBE-9BA2-F751-E1E2-AFBF14F435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7100" y="4772622"/>
            <a:ext cx="1257200" cy="14480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74886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B2A9A-896E-27D1-16E1-80701608B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18FE78-32E8-358E-5D2C-5B6F9157A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08-3 SQL-99 </a:t>
            </a:r>
            <a:r>
              <a:rPr lang="ko-KR" altLang="en-US"/>
              <a:t>표준 문법으로 배우는 조인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F23156-B1AA-FB84-B1A0-00E36BCC3D6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OUTER JOIN : </a:t>
            </a:r>
            <a:r>
              <a:rPr lang="ko-KR" altLang="en-US" dirty="0"/>
              <a:t>외부 조인</a:t>
            </a:r>
            <a:endParaRPr lang="en-US" altLang="ko-KR" dirty="0"/>
          </a:p>
          <a:p>
            <a:r>
              <a:rPr lang="ko-KR" altLang="en-US" dirty="0"/>
              <a:t>세 개 이상의 테이블을 </a:t>
            </a:r>
            <a:r>
              <a:rPr lang="ko-KR" altLang="en-US" dirty="0" err="1"/>
              <a:t>조인할때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AAE8A7-8FC6-8794-6974-7369934A2FE7}"/>
              </a:ext>
            </a:extLst>
          </p:cNvPr>
          <p:cNvSpPr txBox="1"/>
          <p:nvPr/>
        </p:nvSpPr>
        <p:spPr>
          <a:xfrm>
            <a:off x="323528" y="2132856"/>
            <a:ext cx="8568952" cy="10772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FROM TABLE1 JOIN TABLE2 ON (</a:t>
            </a:r>
            <a:r>
              <a:rPr lang="ko-KR" altLang="en-US" sz="3200" dirty="0"/>
              <a:t>조인 조건식</a:t>
            </a:r>
            <a:r>
              <a:rPr lang="en-US" altLang="ko-KR" sz="3200" dirty="0"/>
              <a:t>)</a:t>
            </a:r>
          </a:p>
          <a:p>
            <a:r>
              <a:rPr lang="en-US" altLang="ko-KR" sz="3200" dirty="0"/>
              <a:t>                      JOIN</a:t>
            </a:r>
            <a:r>
              <a:rPr lang="ko-KR" altLang="en-US" sz="3200" dirty="0"/>
              <a:t> </a:t>
            </a:r>
            <a:r>
              <a:rPr lang="en-US" altLang="ko-KR" sz="3200" dirty="0"/>
              <a:t>TABLE3</a:t>
            </a:r>
            <a:r>
              <a:rPr lang="ko-KR" altLang="en-US" sz="3200" dirty="0"/>
              <a:t> </a:t>
            </a:r>
            <a:r>
              <a:rPr lang="en-US" altLang="ko-KR" sz="3200" dirty="0"/>
              <a:t>ON</a:t>
            </a:r>
            <a:r>
              <a:rPr lang="ko-KR" altLang="en-US" sz="3200" dirty="0"/>
              <a:t> </a:t>
            </a:r>
            <a:r>
              <a:rPr lang="en-US" altLang="ko-KR" sz="3200" dirty="0"/>
              <a:t>(</a:t>
            </a:r>
            <a:r>
              <a:rPr lang="ko-KR" altLang="en-US" sz="3200" dirty="0"/>
              <a:t>조인 조건식</a:t>
            </a:r>
            <a:r>
              <a:rPr lang="en-US" altLang="ko-KR" sz="3200" dirty="0"/>
              <a:t>)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0919806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원본">
  <a:themeElements>
    <a:clrScheme name="원본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원본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원본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780</TotalTime>
  <Words>396</Words>
  <Application>Microsoft Office PowerPoint</Application>
  <PresentationFormat>화면 슬라이드 쇼(4:3)</PresentationFormat>
  <Paragraphs>104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Bookman Old Style</vt:lpstr>
      <vt:lpstr>Gill Sans MT</vt:lpstr>
      <vt:lpstr>Wingdings</vt:lpstr>
      <vt:lpstr>Wingdings 3</vt:lpstr>
      <vt:lpstr>원본</vt:lpstr>
      <vt:lpstr>Chap08. 여러 테이블을 하나의  테이블처럼 사용하는 조인</vt:lpstr>
      <vt:lpstr>08-1 조인</vt:lpstr>
      <vt:lpstr>08-1 조인</vt:lpstr>
      <vt:lpstr>08-2 조인 종류</vt:lpstr>
      <vt:lpstr>08-2 조인 종류</vt:lpstr>
      <vt:lpstr>08-2 조인 종류</vt:lpstr>
      <vt:lpstr>08-2 조인 종류</vt:lpstr>
      <vt:lpstr>08-2 조인 종류</vt:lpstr>
      <vt:lpstr>08-2 조인 종류</vt:lpstr>
      <vt:lpstr>08-2 조인 종류</vt:lpstr>
      <vt:lpstr>08-3 SQL-99 표준 문법으로 배우는 조인</vt:lpstr>
      <vt:lpstr>08-3 SQL-99 표준 문법으로 배우는 조인</vt:lpstr>
      <vt:lpstr>08-3 SQL-99 표준 문법으로 배우는 조인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Chap01</dc:title>
  <dc:creator>Microsoft Corporation</dc:creator>
  <cp:lastModifiedBy>218</cp:lastModifiedBy>
  <cp:revision>108</cp:revision>
  <dcterms:created xsi:type="dcterms:W3CDTF">2006-10-05T04:04:58Z</dcterms:created>
  <dcterms:modified xsi:type="dcterms:W3CDTF">2026-04-11T06:47:08Z</dcterms:modified>
</cp:coreProperties>
</file>