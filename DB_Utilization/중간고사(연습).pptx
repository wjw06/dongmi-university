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525" autoAdjust="0"/>
    <p:restoredTop sz="94660"/>
  </p:normalViewPr>
  <p:slideViewPr>
    <p:cSldViewPr>
      <p:cViewPr varScale="1">
        <p:scale>
          <a:sx n="100" d="100"/>
          <a:sy n="100" d="100"/>
        </p:scale>
        <p:origin x="1320" y="5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직사각형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직사각형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직사각형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선 연결선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이등변 삼각형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선 연결선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선 연결선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이등변 삼각형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선 연결선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이등변 삼각형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선 연결선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2025-04-19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8" name="직선 연결선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직선 연결선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이등변 삼각형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1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1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1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1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1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1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1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중간고사</a:t>
            </a:r>
            <a:r>
              <a:rPr lang="en-US" altLang="ko-KR"/>
              <a:t>(</a:t>
            </a:r>
            <a:r>
              <a:rPr lang="ko-KR" altLang="en-US"/>
              <a:t>연습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SELECT, WHERE, </a:t>
            </a:r>
            <a:r>
              <a:rPr lang="ko-KR" altLang="en-US" dirty="0"/>
              <a:t>내장함수</a:t>
            </a:r>
            <a:r>
              <a:rPr lang="en-US" altLang="ko-KR" dirty="0"/>
              <a:t>,</a:t>
            </a:r>
            <a:r>
              <a:rPr lang="ko-KR" altLang="en-US" dirty="0"/>
              <a:t>그룹화</a:t>
            </a:r>
            <a:r>
              <a:rPr lang="en-US" altLang="ko-KR" dirty="0"/>
              <a:t>, </a:t>
            </a:r>
            <a:r>
              <a:rPr lang="ko-KR" altLang="en-US" dirty="0"/>
              <a:t>조인</a:t>
            </a:r>
          </a:p>
        </p:txBody>
      </p:sp>
    </p:spTree>
    <p:extLst>
      <p:ext uri="{BB962C8B-B14F-4D97-AF65-F5344CB8AC3E}">
        <p14:creationId xmlns:p14="http://schemas.microsoft.com/office/powerpoint/2010/main" val="400400824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4-1. EMP </a:t>
            </a:r>
            <a:r>
              <a:rPr lang="ko-KR" altLang="en-US"/>
              <a:t>테이블에서 중복되지 않은 부서 번호</a:t>
            </a:r>
            <a:r>
              <a:rPr lang="en-US" altLang="ko-KR"/>
              <a:t>(DEPTNO)</a:t>
            </a:r>
            <a:r>
              <a:rPr lang="ko-KR" altLang="en-US"/>
              <a:t>를 조회하시오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</a:t>
            </a:r>
            <a:r>
              <a:rPr lang="en-US" altLang="ko-KR">
                <a:solidFill>
                  <a:srgbClr val="ff0000"/>
                </a:solidFill>
              </a:rPr>
              <a:t>distinct(deptno)</a:t>
            </a:r>
            <a:r>
              <a:rPr lang="en-US" altLang="ko-KR"/>
              <a:t> from emp;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</a:t>
            </a:r>
            <a:r>
              <a:rPr lang="en-US" altLang="ko-KR">
                <a:solidFill>
                  <a:srgbClr val="42c7f1"/>
                </a:solidFill>
              </a:rPr>
              <a:t>DISTINCT DEPTNO</a:t>
            </a:r>
            <a:r>
              <a:rPr lang="en-US" altLang="ko-KR"/>
              <a:t> FROM EMP;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4-2. DEPT </a:t>
            </a:r>
            <a:r>
              <a:rPr lang="ko-KR" altLang="en-US"/>
              <a:t>테이블에서 </a:t>
            </a:r>
            <a:r>
              <a:rPr lang="en-US" altLang="ko-KR"/>
              <a:t>DNAME(</a:t>
            </a:r>
            <a:r>
              <a:rPr lang="ko-KR" altLang="en-US"/>
              <a:t>부서명</a:t>
            </a:r>
            <a:r>
              <a:rPr lang="en-US" altLang="ko-KR"/>
              <a:t>)</a:t>
            </a:r>
            <a:r>
              <a:rPr lang="ko-KR" altLang="en-US"/>
              <a:t>을 </a:t>
            </a:r>
            <a:r>
              <a:rPr lang="en-US" altLang="ko-KR"/>
              <a:t>'</a:t>
            </a:r>
            <a:r>
              <a:rPr lang="ko-KR" altLang="en-US"/>
              <a:t>부서이름</a:t>
            </a:r>
            <a:r>
              <a:rPr lang="en-US" altLang="ko-KR"/>
              <a:t>', LOC(</a:t>
            </a:r>
            <a:r>
              <a:rPr lang="ko-KR" altLang="en-US"/>
              <a:t>지역</a:t>
            </a:r>
            <a:r>
              <a:rPr lang="en-US" altLang="ko-KR"/>
              <a:t>)</a:t>
            </a:r>
            <a:r>
              <a:rPr lang="ko-KR" altLang="en-US"/>
              <a:t>를 </a:t>
            </a:r>
            <a:r>
              <a:rPr lang="en-US" altLang="ko-KR"/>
              <a:t>'</a:t>
            </a:r>
            <a:r>
              <a:rPr lang="ko-KR" altLang="en-US"/>
              <a:t>위치</a:t>
            </a:r>
            <a:r>
              <a:rPr lang="en-US" altLang="ko-KR"/>
              <a:t>'</a:t>
            </a:r>
            <a:r>
              <a:rPr lang="ko-KR" altLang="en-US"/>
              <a:t>로 바꿔서 출력하시오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dname as ‘</a:t>
            </a:r>
            <a:r>
              <a:rPr lang="ko-KR" altLang="en-US"/>
              <a:t>부서이름</a:t>
            </a:r>
            <a:r>
              <a:rPr lang="en-US" altLang="ko-KR"/>
              <a:t>’,</a:t>
            </a:r>
            <a:r>
              <a:rPr lang="ko-KR" altLang="en-US"/>
              <a:t> </a:t>
            </a:r>
            <a:r>
              <a:rPr lang="en-US" altLang="ko-KR"/>
              <a:t>loc as ‘</a:t>
            </a:r>
            <a:r>
              <a:rPr lang="ko-KR" altLang="en-US"/>
              <a:t>위치</a:t>
            </a:r>
            <a:r>
              <a:rPr lang="en-US" altLang="ko-KR"/>
              <a:t>’ from dept;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4.3 EMP </a:t>
            </a:r>
            <a:r>
              <a:rPr lang="ko-KR" altLang="en-US"/>
              <a:t>테이블에서 이름</a:t>
            </a:r>
            <a:r>
              <a:rPr lang="en-US" altLang="ko-KR"/>
              <a:t>(ENAME)</a:t>
            </a:r>
            <a:r>
              <a:rPr lang="ko-KR" altLang="en-US"/>
              <a:t>을 기준으로 내림차순 정렬하여 이름과 직무를 조회하시오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ename, job from emp order by ename desc;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04 SELECT</a:t>
            </a:r>
            <a:r>
              <a:rPr lang="ko-KR" altLang="en-US"/>
              <a:t>문의 기본 형식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-63624"/>
            <a:ext cx="8229600" cy="396280"/>
          </a:xfrm>
        </p:spPr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200"/>
              <a:t>05 </a:t>
            </a:r>
            <a:r>
              <a:rPr lang="ko-KR" altLang="en-US" sz="2200"/>
              <a:t>더 정확하고 다양하게 결과를 출력하는 </a:t>
            </a:r>
            <a:r>
              <a:rPr lang="en-US" altLang="ko-KR" sz="2200"/>
              <a:t>WHERE</a:t>
            </a:r>
            <a:r>
              <a:rPr lang="ko-KR" altLang="en-US" sz="2200"/>
              <a:t>절과 연산자</a:t>
            </a:r>
            <a:endParaRPr lang="ko-KR" altLang="en-US" sz="2200"/>
          </a:p>
        </p:txBody>
      </p:sp>
      <p:sp>
        <p:nvSpPr>
          <p:cNvPr id="6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332656"/>
            <a:ext cx="8229600" cy="5760640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1500"/>
              <a:t>5-1. EMP </a:t>
            </a:r>
            <a:r>
              <a:rPr lang="ko-KR" altLang="en-US" sz="1500"/>
              <a:t>테이블에서 직무</a:t>
            </a:r>
            <a:r>
              <a:rPr lang="en-US" altLang="ko-KR" sz="1500"/>
              <a:t>(JOB)</a:t>
            </a:r>
            <a:r>
              <a:rPr lang="ko-KR" altLang="en-US" sz="1500"/>
              <a:t>가 </a:t>
            </a:r>
            <a:r>
              <a:rPr lang="en-US" altLang="ko-KR" sz="1500"/>
              <a:t>'MANAGER'</a:t>
            </a:r>
            <a:r>
              <a:rPr lang="ko-KR" altLang="en-US" sz="1500"/>
              <a:t>이고</a:t>
            </a:r>
            <a:r>
              <a:rPr lang="en-US" altLang="ko-KR" sz="1500"/>
              <a:t>, </a:t>
            </a:r>
            <a:r>
              <a:rPr lang="ko-KR" altLang="en-US" sz="1500"/>
              <a:t>급여</a:t>
            </a:r>
            <a:r>
              <a:rPr lang="en-US" altLang="ko-KR" sz="1500"/>
              <a:t>(SAL)</a:t>
            </a:r>
            <a:r>
              <a:rPr lang="ko-KR" altLang="en-US" sz="1500"/>
              <a:t>가 </a:t>
            </a:r>
            <a:r>
              <a:rPr lang="en-US" altLang="ko-KR" sz="1500"/>
              <a:t>2500 </a:t>
            </a:r>
            <a:r>
              <a:rPr lang="ko-KR" altLang="en-US" sz="1500"/>
              <a:t>이하인 사원의 이름과 직무</a:t>
            </a:r>
            <a:r>
              <a:rPr lang="en-US" altLang="ko-KR" sz="1500"/>
              <a:t>, </a:t>
            </a:r>
            <a:r>
              <a:rPr lang="ko-KR" altLang="en-US" sz="1500"/>
              <a:t>급여를 조회하시오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ename, job, sal from emp where job = ‘MANAGER’ and sal &lt;= 2500;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5-2. EMP </a:t>
            </a:r>
            <a:r>
              <a:rPr lang="ko-KR" altLang="en-US" sz="1500"/>
              <a:t>테이블에서 직무</a:t>
            </a:r>
            <a:r>
              <a:rPr lang="en-US" altLang="ko-KR" sz="1500"/>
              <a:t>(JOB)</a:t>
            </a:r>
            <a:r>
              <a:rPr lang="ko-KR" altLang="en-US" sz="1500"/>
              <a:t>가 </a:t>
            </a:r>
            <a:r>
              <a:rPr lang="en-US" altLang="ko-KR" sz="1500"/>
              <a:t>'CLERK', 'SALESMAN', 'ANALYST' </a:t>
            </a:r>
            <a:r>
              <a:rPr lang="ko-KR" altLang="en-US" sz="1500"/>
              <a:t>중 하나인 사원의 이름과 직무를 조회하시오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ename, job from emp where job in(’CLERK’, ‘SALESMAN’, ‘ANALYST’);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5.3 SALGRADE </a:t>
            </a:r>
            <a:r>
              <a:rPr lang="ko-KR" altLang="en-US" sz="1500"/>
              <a:t>테이블에서 급여 등급</a:t>
            </a:r>
            <a:r>
              <a:rPr lang="en-US" altLang="ko-KR" sz="1500"/>
              <a:t>(GRADE)</a:t>
            </a:r>
            <a:r>
              <a:rPr lang="ko-KR" altLang="en-US" sz="1500"/>
              <a:t>이 </a:t>
            </a:r>
            <a:r>
              <a:rPr lang="en-US" altLang="ko-KR" sz="1500"/>
              <a:t>2 </a:t>
            </a:r>
            <a:r>
              <a:rPr lang="ko-KR" altLang="en-US" sz="1500"/>
              <a:t>이상 </a:t>
            </a:r>
            <a:r>
              <a:rPr lang="en-US" altLang="ko-KR" sz="1500"/>
              <a:t>4 </a:t>
            </a:r>
            <a:r>
              <a:rPr lang="ko-KR" altLang="en-US" sz="1500"/>
              <a:t>이하인 행을 조회하시오</a:t>
            </a:r>
            <a:r>
              <a:rPr lang="en-US" altLang="ko-KR" sz="1500"/>
              <a:t>.(BETWEEN</a:t>
            </a:r>
            <a:r>
              <a:rPr lang="ko-KR" altLang="en-US" sz="1500"/>
              <a:t>사용</a:t>
            </a:r>
            <a:r>
              <a:rPr lang="en-US" altLang="ko-KR" sz="1500"/>
              <a:t>)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</a:t>
            </a:r>
            <a:r>
              <a:rPr lang="en-US" altLang="ko-KR" sz="1500">
                <a:solidFill>
                  <a:srgbClr val="ff0000"/>
                </a:solidFill>
              </a:rPr>
              <a:t>grade </a:t>
            </a:r>
            <a:r>
              <a:rPr lang="en-US" altLang="ko-KR" sz="1500"/>
              <a:t>from salgrade where grade between 2 and 4;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</a:t>
            </a:r>
            <a:r>
              <a:rPr lang="en-US" altLang="ko-KR" sz="1500">
                <a:solidFill>
                  <a:srgbClr val="42c7f1"/>
                </a:solidFill>
              </a:rPr>
              <a:t>*</a:t>
            </a:r>
            <a:r>
              <a:rPr lang="en-US" altLang="ko-KR" sz="1500"/>
              <a:t> FROM SALGRADE WHERE GRADE BETWEEN 2 AND 4;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5-4. EMP </a:t>
            </a:r>
            <a:r>
              <a:rPr lang="ko-KR" altLang="en-US" sz="1500"/>
              <a:t>테이블에서 이름의 두 번째 글자가 </a:t>
            </a:r>
            <a:r>
              <a:rPr lang="en-US" altLang="ko-KR" sz="1500"/>
              <a:t>'L'</a:t>
            </a:r>
            <a:r>
              <a:rPr lang="ko-KR" altLang="en-US" sz="1500"/>
              <a:t>인 사원의 이름을 조회하시오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ename from emp where ename like ‘_L%’;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5-5. EMP </a:t>
            </a:r>
            <a:r>
              <a:rPr lang="ko-KR" altLang="en-US" sz="1500"/>
              <a:t>테이블에서 이름이 </a:t>
            </a:r>
            <a:r>
              <a:rPr lang="en-US" altLang="ko-KR" sz="1500"/>
              <a:t>'J'</a:t>
            </a:r>
            <a:r>
              <a:rPr lang="ko-KR" altLang="en-US" sz="1500"/>
              <a:t>로 시작하고</a:t>
            </a:r>
            <a:r>
              <a:rPr lang="en-US" altLang="ko-KR" sz="1500"/>
              <a:t>, </a:t>
            </a:r>
            <a:r>
              <a:rPr lang="ko-KR" altLang="en-US" sz="1500"/>
              <a:t>커미션이 없는 사원의 이름과 </a:t>
            </a:r>
            <a:r>
              <a:rPr lang="en-US" altLang="ko-KR" sz="1500"/>
              <a:t>COMM</a:t>
            </a:r>
            <a:r>
              <a:rPr lang="ko-KR" altLang="en-US" sz="1500"/>
              <a:t>을 조회하시오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ename, comm from emp where ename like ‘J%’ and comm is null;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5-6. </a:t>
            </a:r>
            <a:r>
              <a:rPr lang="ko-KR" altLang="en-US" sz="1500"/>
              <a:t>직무가 </a:t>
            </a:r>
            <a:r>
              <a:rPr lang="en-US" altLang="ko-KR" sz="1500"/>
              <a:t>'CLERK'</a:t>
            </a:r>
            <a:r>
              <a:rPr lang="ko-KR" altLang="en-US" sz="1500"/>
              <a:t>인 사원과 </a:t>
            </a:r>
            <a:r>
              <a:rPr lang="en-US" altLang="ko-KR" sz="1500"/>
              <a:t>'SALESMAN'</a:t>
            </a:r>
            <a:r>
              <a:rPr lang="ko-KR" altLang="en-US" sz="1500"/>
              <a:t>인 사원의 사번</a:t>
            </a:r>
            <a:r>
              <a:rPr lang="en-US" altLang="ko-KR" sz="1500"/>
              <a:t>, </a:t>
            </a:r>
            <a:r>
              <a:rPr lang="ko-KR" altLang="en-US" sz="1500"/>
              <a:t>이름</a:t>
            </a:r>
            <a:r>
              <a:rPr lang="en-US" altLang="ko-KR" sz="1500"/>
              <a:t>, </a:t>
            </a:r>
            <a:r>
              <a:rPr lang="ko-KR" altLang="en-US" sz="1500"/>
              <a:t>직무를 모두 출력하되 중복 없이 보여주시오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empno, ename, job from emp where job = ‘CLERK’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union select ename, job from emp where job = ‘SALESMAN’;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5-7. </a:t>
            </a:r>
            <a:r>
              <a:rPr lang="ko-KR" altLang="en-US" sz="1500"/>
              <a:t>직무가 </a:t>
            </a:r>
            <a:r>
              <a:rPr lang="en-US" altLang="ko-KR" sz="1500"/>
              <a:t>'MANAGER'</a:t>
            </a:r>
            <a:r>
              <a:rPr lang="ko-KR" altLang="en-US" sz="1500"/>
              <a:t>인 사원 중에서 급여가 </a:t>
            </a:r>
            <a:r>
              <a:rPr lang="en-US" altLang="ko-KR" sz="1500"/>
              <a:t>3000 </a:t>
            </a:r>
            <a:r>
              <a:rPr lang="ko-KR" altLang="en-US" sz="1500"/>
              <a:t>이상인 사원을 제외한 나머지 </a:t>
            </a:r>
            <a:r>
              <a:rPr lang="en-US" altLang="ko-KR" sz="1500"/>
              <a:t>MANAGER </a:t>
            </a:r>
            <a:r>
              <a:rPr lang="ko-KR" altLang="en-US" sz="1500"/>
              <a:t>사원의 이름과 급여를 조회하시오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ename, sal from emp where job = ‘MANAGER’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minus select ename, sal from emp where sal &gt;= 3000;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5-8.'ANALYST' </a:t>
            </a:r>
            <a:r>
              <a:rPr lang="ko-KR" altLang="en-US" sz="1500"/>
              <a:t>직무를 가진 사원 중에서</a:t>
            </a:r>
            <a:r>
              <a:rPr lang="en-US" altLang="ko-KR" sz="1500"/>
              <a:t>, </a:t>
            </a:r>
            <a:r>
              <a:rPr lang="ko-KR" altLang="en-US" sz="1500"/>
              <a:t>급여가 </a:t>
            </a:r>
            <a:r>
              <a:rPr lang="en-US" altLang="ko-KR" sz="1500"/>
              <a:t>3000 </a:t>
            </a:r>
            <a:r>
              <a:rPr lang="ko-KR" altLang="en-US" sz="1500"/>
              <a:t>이상인 사원의 이름과 급여를 조회하시오</a:t>
            </a:r>
            <a:r>
              <a:rPr lang="en-US" altLang="ko-KR" sz="1500"/>
              <a:t>.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ename, sal from emp where job = ‘ANALYST’</a:t>
            </a:r>
            <a:endParaRPr lang="en-US" altLang="ko-KR" sz="1500"/>
          </a:p>
          <a:p>
            <a:pPr lvl="0">
              <a:defRPr/>
            </a:pPr>
            <a:r>
              <a:rPr lang="en-US" altLang="ko-KR" sz="1500">
                <a:solidFill>
                  <a:srgbClr val="ff0000"/>
                </a:solidFill>
              </a:rPr>
              <a:t>?</a:t>
            </a:r>
            <a:r>
              <a:rPr lang="en-US" altLang="ko-KR" sz="1500"/>
              <a:t> select ename, sal from emp where sal &gt;= 3000;</a:t>
            </a:r>
            <a:endParaRPr lang="en-US" altLang="ko-KR" sz="1500"/>
          </a:p>
          <a:p>
            <a:pPr lvl="0">
              <a:defRPr/>
            </a:pPr>
            <a:r>
              <a:rPr lang="en-US" altLang="ko-KR" sz="1500"/>
              <a:t>SELECT ENAME, SAL FROM EMP WHERE JOB = 'ANALYST'</a:t>
            </a:r>
            <a:endParaRPr lang="en-US" altLang="ko-KR" sz="1500"/>
          </a:p>
          <a:p>
            <a:pPr lvl="0">
              <a:defRPr/>
            </a:pPr>
            <a:r>
              <a:rPr lang="en-US" altLang="ko-KR" sz="1500">
                <a:solidFill>
                  <a:srgbClr val="42c7f1"/>
                </a:solidFill>
              </a:rPr>
              <a:t>INTERSECT </a:t>
            </a:r>
            <a:r>
              <a:rPr lang="en-US" altLang="ko-KR" sz="1500"/>
              <a:t>SELECT ENAME, SAL FROM EMP WHERE SAL &gt;= 3000;</a:t>
            </a:r>
            <a:endParaRPr lang="en-US" altLang="ko-KR"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06. </a:t>
            </a:r>
            <a:r>
              <a:rPr lang="ko-KR" altLang="en-US"/>
              <a:t>데이터 처리와 가공을 위한 오라클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solidFill>
                  <a:srgbClr val="0000FF"/>
                </a:solidFill>
              </a:rPr>
              <a:t>함수관련 실습코드만 </a:t>
            </a:r>
            <a:r>
              <a:rPr lang="en-US" altLang="ko-KR">
                <a:solidFill>
                  <a:srgbClr val="0000FF"/>
                </a:solidFill>
              </a:rPr>
              <a:t>LMS</a:t>
            </a:r>
            <a:r>
              <a:rPr lang="ko-KR" altLang="en-US">
                <a:solidFill>
                  <a:srgbClr val="0000FF"/>
                </a:solidFill>
              </a:rPr>
              <a:t>에 올릴예정</a:t>
            </a:r>
            <a:endParaRPr lang="en-US" altLang="ko-KR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538551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152400"/>
            <a:ext cx="8229600" cy="61230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07. </a:t>
            </a:r>
            <a:r>
              <a:rPr lang="ko-KR" altLang="en-US"/>
              <a:t>다중행 함수와 데이터 그룹화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162345" y="1196752"/>
            <a:ext cx="9011344" cy="5929672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en-US" altLang="ko-KR" sz="1600"/>
              <a:t>7-1 </a:t>
            </a:r>
            <a:r>
              <a:rPr lang="ko-KR" altLang="en-US" sz="1600"/>
              <a:t>직업</a:t>
            </a:r>
            <a:r>
              <a:rPr lang="en-US" altLang="ko-KR" sz="1600"/>
              <a:t>(JOB)</a:t>
            </a:r>
            <a:r>
              <a:rPr lang="ko-KR" altLang="en-US" sz="1600"/>
              <a:t>별 수당</a:t>
            </a:r>
            <a:r>
              <a:rPr lang="en-US" altLang="ko-KR" sz="1600"/>
              <a:t>(COMM) </a:t>
            </a:r>
            <a:r>
              <a:rPr lang="ko-KR" altLang="en-US" sz="1600"/>
              <a:t>총합을 구하시오</a:t>
            </a:r>
            <a:r>
              <a:rPr lang="en-US" altLang="ko-KR" sz="1600"/>
              <a:t>.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job, sum(comm) from emp group by job;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7-2 </a:t>
            </a:r>
            <a:r>
              <a:rPr lang="ko-KR" altLang="en-US" sz="1600"/>
              <a:t>직업</a:t>
            </a:r>
            <a:r>
              <a:rPr lang="en-US" altLang="ko-KR" sz="1600"/>
              <a:t>(JOB)</a:t>
            </a:r>
            <a:r>
              <a:rPr lang="ko-KR" altLang="en-US" sz="1600"/>
              <a:t>별 사원 수를 구하시오</a:t>
            </a:r>
            <a:r>
              <a:rPr lang="en-US" altLang="ko-KR" sz="1600"/>
              <a:t>.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job, count(job) from emp group by job;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7-3 </a:t>
            </a:r>
            <a:r>
              <a:rPr lang="ko-KR" altLang="en-US" sz="1600"/>
              <a:t>직업별 최고 수당을 구하시오</a:t>
            </a:r>
            <a:r>
              <a:rPr lang="en-US" altLang="ko-KR" sz="1600"/>
              <a:t>. </a:t>
            </a:r>
            <a:r>
              <a:rPr lang="ko-KR" altLang="en-US" sz="1600"/>
              <a:t>단</a:t>
            </a:r>
            <a:r>
              <a:rPr lang="en-US" altLang="ko-KR" sz="1600"/>
              <a:t>, </a:t>
            </a:r>
            <a:r>
              <a:rPr lang="ko-KR" altLang="en-US" sz="1600"/>
              <a:t>수당이 정해지지 않으면 </a:t>
            </a:r>
            <a:r>
              <a:rPr lang="en-US" altLang="ko-KR" sz="1600"/>
              <a:t>0</a:t>
            </a:r>
            <a:r>
              <a:rPr lang="ko-KR" altLang="en-US" sz="1600"/>
              <a:t>으로 가져오시오</a:t>
            </a:r>
            <a:r>
              <a:rPr lang="en-US" altLang="ko-KR" sz="1600"/>
              <a:t>.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job, </a:t>
            </a:r>
            <a:r>
              <a:rPr lang="en-US" altLang="ko-KR" sz="1600">
                <a:solidFill>
                  <a:srgbClr val="ff0000"/>
                </a:solidFill>
              </a:rPr>
              <a:t>nvl(max(comm), 0)</a:t>
            </a:r>
            <a:r>
              <a:rPr lang="en-US" altLang="ko-KR" sz="1600"/>
              <a:t> from emp group by job;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JOB, </a:t>
            </a:r>
            <a:r>
              <a:rPr lang="en-US" altLang="ko-KR" sz="1600">
                <a:solidFill>
                  <a:srgbClr val="42c7f1"/>
                </a:solidFill>
              </a:rPr>
              <a:t>MAX(NVL(COMM, 0))</a:t>
            </a:r>
            <a:r>
              <a:rPr lang="en-US" altLang="ko-KR" sz="1600"/>
              <a:t> AS MAX_COMM FROM EMP GROUP BY JOB;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7-4 </a:t>
            </a:r>
            <a:r>
              <a:rPr lang="ko-KR" altLang="en-US" sz="1600"/>
              <a:t>부서별 최저 급여를 구하시오</a:t>
            </a:r>
            <a:r>
              <a:rPr lang="en-US" altLang="ko-KR" sz="1600"/>
              <a:t>.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deptno, min(sal) from emp group by deptno;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7-5 </a:t>
            </a:r>
            <a:r>
              <a:rPr lang="ko-KR" altLang="en-US" sz="1600"/>
              <a:t>부서별 평균 급여를 구하시오</a:t>
            </a:r>
            <a:r>
              <a:rPr lang="en-US" altLang="ko-KR" sz="1600"/>
              <a:t>.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deptno, trunc(avg(sal)) from emp group by deptno;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7-6 </a:t>
            </a:r>
            <a:r>
              <a:rPr lang="ko-KR" altLang="en-US" sz="1600"/>
              <a:t>급여 등급</a:t>
            </a:r>
            <a:r>
              <a:rPr lang="en-US" altLang="ko-KR" sz="1600"/>
              <a:t>(GRADE)</a:t>
            </a:r>
            <a:r>
              <a:rPr lang="ko-KR" altLang="en-US" sz="1600"/>
              <a:t>별 평균 급여를 구하시오</a:t>
            </a:r>
            <a:r>
              <a:rPr lang="en-US" altLang="ko-KR" sz="1600"/>
              <a:t>.(SALGRADE</a:t>
            </a:r>
            <a:r>
              <a:rPr lang="ko-KR" altLang="en-US" sz="1600"/>
              <a:t>와 조인 필요</a:t>
            </a:r>
            <a:r>
              <a:rPr lang="en-US" altLang="ko-KR" sz="1600"/>
              <a:t>)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s.grade, trunc(avg(g.sal)) from emp e, salgrade s where e.sal between </a:t>
            </a:r>
            <a:r>
              <a:rPr lang="en-US" altLang="ko-KR" sz="1600">
                <a:solidFill>
                  <a:srgbClr val="ff0000"/>
                </a:solidFill>
              </a:rPr>
              <a:t>s.minsal </a:t>
            </a:r>
            <a:r>
              <a:rPr lang="en-US" altLang="ko-KR" sz="1600">
                <a:solidFill>
                  <a:schemeClr val="dk1"/>
                </a:solidFill>
              </a:rPr>
              <a:t>and </a:t>
            </a:r>
            <a:r>
              <a:rPr lang="en-US" altLang="ko-KR" sz="1600">
                <a:solidFill>
                  <a:srgbClr val="ff0000"/>
                </a:solidFill>
              </a:rPr>
              <a:t>maxsal</a:t>
            </a:r>
            <a:r>
              <a:rPr lang="en-US" altLang="ko-KR" sz="1600"/>
              <a:t> 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group by s.grade;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G.GRADE, TRUNC(AVG(E.SAL)) AS AVG_SAL FROM EMP E, SALGRADE G 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WHERE E.SAL BETWEEN </a:t>
            </a:r>
            <a:r>
              <a:rPr lang="en-US" altLang="ko-KR" sz="1600">
                <a:solidFill>
                  <a:srgbClr val="42c7f1"/>
                </a:solidFill>
              </a:rPr>
              <a:t>G.LOSAL </a:t>
            </a:r>
            <a:r>
              <a:rPr lang="en-US" altLang="ko-KR" sz="1600">
                <a:solidFill>
                  <a:schemeClr val="dk1"/>
                </a:solidFill>
              </a:rPr>
              <a:t>AND </a:t>
            </a:r>
            <a:r>
              <a:rPr lang="en-US" altLang="ko-KR" sz="1600">
                <a:solidFill>
                  <a:srgbClr val="42c7f1"/>
                </a:solidFill>
              </a:rPr>
              <a:t>G.HISAL</a:t>
            </a:r>
            <a:r>
              <a:rPr lang="en-US" altLang="ko-KR" sz="1600"/>
              <a:t> GROUP BY G.GRADE;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7-7 </a:t>
            </a:r>
            <a:r>
              <a:rPr lang="ko-KR" altLang="en-US" sz="1600"/>
              <a:t>직업</a:t>
            </a:r>
            <a:r>
              <a:rPr lang="en-US" altLang="ko-KR" sz="1600"/>
              <a:t>(JOB)</a:t>
            </a:r>
            <a:r>
              <a:rPr lang="ko-KR" altLang="en-US" sz="1600"/>
              <a:t>별 사원 수가 </a:t>
            </a:r>
            <a:r>
              <a:rPr lang="en-US" altLang="ko-KR" sz="1600"/>
              <a:t>3</a:t>
            </a:r>
            <a:r>
              <a:rPr lang="ko-KR" altLang="en-US" sz="1600"/>
              <a:t>명 이상인 직업만 조회하시오</a:t>
            </a:r>
            <a:r>
              <a:rPr lang="en-US" altLang="ko-KR" sz="1600"/>
              <a:t>.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</a:t>
            </a:r>
            <a:r>
              <a:rPr lang="en-US" altLang="ko-KR" sz="1600">
                <a:solidFill>
                  <a:srgbClr val="ff0000"/>
                </a:solidFill>
              </a:rPr>
              <a:t>job </a:t>
            </a:r>
            <a:r>
              <a:rPr lang="en-US" altLang="ko-KR" sz="1600"/>
              <a:t>from emp group by job having count(job) &gt;= 3;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</a:t>
            </a:r>
            <a:r>
              <a:rPr lang="en-US" altLang="ko-KR" sz="1600">
                <a:solidFill>
                  <a:srgbClr val="42c7f1"/>
                </a:solidFill>
              </a:rPr>
              <a:t>JOB, COUNT(*)</a:t>
            </a:r>
            <a:r>
              <a:rPr lang="en-US" altLang="ko-KR" sz="1600"/>
              <a:t> AS EMP_COUNT FROM EMP GROUP BY JOB HAVING COUNT(*) &gt;= 3;</a:t>
            </a:r>
            <a:endParaRPr lang="en-US" altLang="ko-KR" sz="1600"/>
          </a:p>
          <a:p>
            <a:pPr>
              <a:lnSpc>
                <a:spcPct val="170000"/>
              </a:lnSpc>
              <a:defRPr/>
            </a:pPr>
            <a:r>
              <a:rPr lang="en-US" altLang="ko-KR" sz="1600"/>
              <a:t>7-8 </a:t>
            </a:r>
            <a:r>
              <a:rPr lang="ko-KR" altLang="en-US" sz="1600"/>
              <a:t>급여 등급</a:t>
            </a:r>
            <a:r>
              <a:rPr lang="en-US" altLang="ko-KR" sz="1600"/>
              <a:t>(GRADE)</a:t>
            </a:r>
            <a:r>
              <a:rPr lang="ko-KR" altLang="en-US" sz="1600"/>
              <a:t>별 평균 급여가 </a:t>
            </a:r>
            <a:r>
              <a:rPr lang="en-US" altLang="ko-KR" sz="1600"/>
              <a:t>2500 </a:t>
            </a:r>
            <a:r>
              <a:rPr lang="ko-KR" altLang="en-US" sz="1600"/>
              <a:t>이상인 등급만 조회하시오</a:t>
            </a:r>
            <a:r>
              <a:rPr lang="en-US" altLang="ko-KR" sz="1600"/>
              <a:t>.(SALGRADE</a:t>
            </a:r>
            <a:r>
              <a:rPr lang="ko-KR" altLang="en-US" sz="1600"/>
              <a:t>와 조인 필요</a:t>
            </a:r>
            <a:r>
              <a:rPr lang="en-US" altLang="ko-KR" sz="1600"/>
              <a:t>)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</a:t>
            </a:r>
            <a:r>
              <a:rPr lang="en-US" altLang="ko-KR" sz="1600">
                <a:solidFill>
                  <a:srgbClr val="ff0000"/>
                </a:solidFill>
              </a:rPr>
              <a:t>s.grade</a:t>
            </a:r>
            <a:r>
              <a:rPr lang="en-US" altLang="ko-KR" sz="1600"/>
              <a:t> from emp e, salgrade s where e.sal between</a:t>
            </a:r>
            <a:r>
              <a:rPr lang="en-US" altLang="ko-KR" sz="1600">
                <a:solidFill>
                  <a:srgbClr val="ff0000"/>
                </a:solidFill>
              </a:rPr>
              <a:t> s.minsal </a:t>
            </a:r>
            <a:r>
              <a:rPr lang="en-US" altLang="ko-KR" sz="1600">
                <a:solidFill>
                  <a:schemeClr val="dk1"/>
                </a:solidFill>
              </a:rPr>
              <a:t>and </a:t>
            </a:r>
            <a:r>
              <a:rPr lang="en-US" altLang="ko-KR" sz="1600">
                <a:solidFill>
                  <a:srgbClr val="ff0000"/>
                </a:solidFill>
              </a:rPr>
              <a:t>maxsal 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group by s.grade having avg(e.sal) &gt;= 2500;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SELECT </a:t>
            </a:r>
            <a:r>
              <a:rPr lang="en-US" altLang="ko-KR" sz="1600">
                <a:solidFill>
                  <a:srgbClr val="42c7f1"/>
                </a:solidFill>
              </a:rPr>
              <a:t>G.GRADE, TRUNC(AVG(E.SAL)) </a:t>
            </a:r>
            <a:r>
              <a:rPr lang="en-US" altLang="ko-KR" sz="1600"/>
              <a:t>AS AVG_SAL FROM EMP E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JOIN SALGRADE G ON E.SAL BETWEEN </a:t>
            </a:r>
            <a:r>
              <a:rPr lang="en-US" altLang="ko-KR" sz="1600">
                <a:solidFill>
                  <a:srgbClr val="42c7f1"/>
                </a:solidFill>
              </a:rPr>
              <a:t>G.LOSAL </a:t>
            </a:r>
            <a:r>
              <a:rPr lang="en-US" altLang="ko-KR" sz="1600">
                <a:solidFill>
                  <a:schemeClr val="dk1"/>
                </a:solidFill>
              </a:rPr>
              <a:t>AND </a:t>
            </a:r>
            <a:r>
              <a:rPr lang="en-US" altLang="ko-KR" sz="1600">
                <a:solidFill>
                  <a:srgbClr val="42c7f1"/>
                </a:solidFill>
              </a:rPr>
              <a:t>G.HISAL</a:t>
            </a:r>
            <a:endParaRPr lang="en-US" altLang="ko-KR" sz="1600"/>
          </a:p>
          <a:p>
            <a:pPr lvl="0">
              <a:defRPr/>
            </a:pPr>
            <a:r>
              <a:rPr lang="en-US" altLang="ko-KR" sz="1600"/>
              <a:t>GROUP BY G.GRADE HAVING AVG(E.SAL) &gt;= 2500;</a:t>
            </a:r>
            <a:endParaRPr lang="en-US" altLang="ko-KR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600"/>
              <a:t>08. </a:t>
            </a:r>
            <a:r>
              <a:rPr lang="ko-KR" altLang="en-US" sz="2600"/>
              <a:t>여러 테이블을 하나의 테이블처럼 사용하는 조인</a:t>
            </a:r>
            <a:endParaRPr lang="ko-KR" altLang="en-US" sz="260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228600" y="1124744"/>
            <a:ext cx="8807896" cy="4937760"/>
          </a:xfrm>
        </p:spPr>
        <p:txBody>
          <a:bodyPr>
            <a:normAutofit fontScale="70000" lnSpcReduction="20000"/>
          </a:bodyPr>
          <a:lstStyle/>
          <a:p>
            <a:pPr lvl="0">
              <a:defRPr/>
            </a:pPr>
            <a:r>
              <a:rPr lang="en-US" altLang="ko-KR"/>
              <a:t>8-1 </a:t>
            </a:r>
            <a:r>
              <a:rPr lang="ko-KR" altLang="en-US"/>
              <a:t>부서 이름이 </a:t>
            </a:r>
            <a:r>
              <a:rPr lang="en-US" altLang="ko-KR"/>
              <a:t>'SALES'</a:t>
            </a:r>
            <a:r>
              <a:rPr lang="ko-KR" altLang="en-US"/>
              <a:t>이고</a:t>
            </a:r>
            <a:r>
              <a:rPr lang="en-US" altLang="ko-KR"/>
              <a:t>, </a:t>
            </a:r>
            <a:r>
              <a:rPr lang="ko-KR" altLang="en-US"/>
              <a:t>급여</a:t>
            </a:r>
            <a:r>
              <a:rPr lang="en-US" altLang="ko-KR"/>
              <a:t>(SAL)</a:t>
            </a:r>
            <a:r>
              <a:rPr lang="ko-KR" altLang="en-US"/>
              <a:t>가 </a:t>
            </a:r>
            <a:r>
              <a:rPr lang="en-US" altLang="ko-KR"/>
              <a:t>1500 </a:t>
            </a:r>
            <a:r>
              <a:rPr lang="ko-KR" altLang="en-US"/>
              <a:t>이상인 사원의 사원 이름</a:t>
            </a:r>
            <a:r>
              <a:rPr lang="en-US" altLang="ko-KR"/>
              <a:t>(ENAME), </a:t>
            </a:r>
            <a:r>
              <a:rPr lang="ko-KR" altLang="en-US"/>
              <a:t>부서 이름</a:t>
            </a:r>
            <a:r>
              <a:rPr lang="en-US" altLang="ko-KR"/>
              <a:t>(DNAME), </a:t>
            </a:r>
            <a:r>
              <a:rPr lang="ko-KR" altLang="en-US"/>
              <a:t>급여</a:t>
            </a:r>
            <a:r>
              <a:rPr lang="en-US" altLang="ko-KR"/>
              <a:t>(SAL)</a:t>
            </a:r>
            <a:r>
              <a:rPr lang="ko-KR" altLang="en-US"/>
              <a:t>를 출력하시오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e.ename, d.dname, e.sal from emp e, dept d where e.deptno = d.deptno and d.dname = ‘SALES’</a:t>
            </a:r>
            <a:r>
              <a:rPr lang="ko-KR" altLang="en-US"/>
              <a:t> </a:t>
            </a:r>
            <a:r>
              <a:rPr lang="en-US" altLang="ko-KR"/>
              <a:t>and sal &gt;= 1500;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8-2 </a:t>
            </a:r>
            <a:r>
              <a:rPr lang="ko-KR" altLang="en-US"/>
              <a:t>급여 등급이 </a:t>
            </a:r>
            <a:r>
              <a:rPr lang="en-US" altLang="ko-KR"/>
              <a:t>3 </a:t>
            </a:r>
            <a:r>
              <a:rPr lang="ko-KR" altLang="en-US"/>
              <a:t>이상인 사원들 중 직무</a:t>
            </a:r>
            <a:r>
              <a:rPr lang="en-US" altLang="ko-KR"/>
              <a:t>(JOB)</a:t>
            </a:r>
            <a:r>
              <a:rPr lang="ko-KR" altLang="en-US"/>
              <a:t>가 </a:t>
            </a:r>
            <a:r>
              <a:rPr lang="en-US" altLang="ko-KR"/>
              <a:t>'SALESMAN'</a:t>
            </a:r>
            <a:r>
              <a:rPr lang="ko-KR" altLang="en-US"/>
              <a:t>인 사원의 이름</a:t>
            </a:r>
            <a:r>
              <a:rPr lang="en-US" altLang="ko-KR"/>
              <a:t>(ENAME), </a:t>
            </a:r>
            <a:r>
              <a:rPr lang="ko-KR" altLang="en-US"/>
              <a:t>급여</a:t>
            </a:r>
            <a:r>
              <a:rPr lang="en-US" altLang="ko-KR"/>
              <a:t>(SAL), </a:t>
            </a:r>
            <a:r>
              <a:rPr lang="ko-KR" altLang="en-US"/>
              <a:t>등급</a:t>
            </a:r>
            <a:r>
              <a:rPr lang="en-US" altLang="ko-KR"/>
              <a:t>(GRADE), </a:t>
            </a:r>
            <a:r>
              <a:rPr lang="ko-KR" altLang="en-US"/>
              <a:t>직무</a:t>
            </a:r>
            <a:r>
              <a:rPr lang="en-US" altLang="ko-KR"/>
              <a:t>(JOB)</a:t>
            </a:r>
            <a:r>
              <a:rPr lang="ko-KR" altLang="en-US"/>
              <a:t>를 출력하시오</a:t>
            </a:r>
            <a:r>
              <a:rPr lang="en-US" altLang="ko-KR"/>
              <a:t>. 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e.ename, e.sal, s.grade, e.job from emp e, salgrade s 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where e.sal between </a:t>
            </a:r>
            <a:r>
              <a:rPr lang="en-US" altLang="ko-KR">
                <a:solidFill>
                  <a:srgbClr val="ff0000"/>
                </a:solidFill>
              </a:rPr>
              <a:t>s.minsal</a:t>
            </a:r>
            <a:r>
              <a:rPr lang="en-US" altLang="ko-KR"/>
              <a:t> and </a:t>
            </a:r>
            <a:r>
              <a:rPr lang="en-US" altLang="ko-KR">
                <a:solidFill>
                  <a:srgbClr val="ff0000"/>
                </a:solidFill>
              </a:rPr>
              <a:t>s.maxsal</a:t>
            </a:r>
            <a:r>
              <a:rPr lang="en-US" altLang="ko-KR"/>
              <a:t> and s.grade &gt;= 3 and </a:t>
            </a:r>
            <a:r>
              <a:rPr lang="en-US" altLang="ko-KR">
                <a:solidFill>
                  <a:srgbClr val="ff0000"/>
                </a:solidFill>
              </a:rPr>
              <a:t>job </a:t>
            </a:r>
            <a:r>
              <a:rPr lang="en-US" altLang="ko-KR"/>
              <a:t>= ‘SALESMAN’;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E.ENAME,  E.SAL,  S.GRADE,   E.JOB FROM    EMP E,SALGRADE 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WHERE     E.SAL BETWEEN </a:t>
            </a:r>
            <a:r>
              <a:rPr lang="en-US" altLang="ko-KR">
                <a:solidFill>
                  <a:srgbClr val="42c7f1"/>
                </a:solidFill>
              </a:rPr>
              <a:t>S.LOSAL</a:t>
            </a:r>
            <a:r>
              <a:rPr lang="en-US" altLang="ko-KR"/>
              <a:t> AND </a:t>
            </a:r>
            <a:r>
              <a:rPr lang="en-US" altLang="ko-KR">
                <a:solidFill>
                  <a:srgbClr val="42c7f1"/>
                </a:solidFill>
              </a:rPr>
              <a:t>S.HISAL </a:t>
            </a:r>
            <a:r>
              <a:rPr lang="en-US" altLang="ko-KR"/>
              <a:t>AND S.GRADE &gt;= 3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AND </a:t>
            </a:r>
            <a:r>
              <a:rPr lang="en-US" altLang="ko-KR">
                <a:solidFill>
                  <a:srgbClr val="42c7f1"/>
                </a:solidFill>
              </a:rPr>
              <a:t>E.JOB</a:t>
            </a:r>
            <a:r>
              <a:rPr lang="en-US" altLang="ko-KR"/>
              <a:t> = 'SALESMAN';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8-3 [SQL-99</a:t>
            </a:r>
            <a:r>
              <a:rPr lang="ko-KR" altLang="en-US"/>
              <a:t> 표준문법</a:t>
            </a:r>
            <a:r>
              <a:rPr lang="en-US" altLang="ko-KR"/>
              <a:t>] </a:t>
            </a:r>
            <a:r>
              <a:rPr lang="ko-KR" altLang="en-US"/>
              <a:t>각 부서에 속한 사원들 중 급여가 </a:t>
            </a:r>
            <a:r>
              <a:rPr lang="en-US" altLang="ko-KR"/>
              <a:t>2000 </a:t>
            </a:r>
            <a:r>
              <a:rPr lang="ko-KR" altLang="en-US"/>
              <a:t>이상인 사원의 이름</a:t>
            </a:r>
            <a:r>
              <a:rPr lang="en-US" altLang="ko-KR"/>
              <a:t>(ENAME), </a:t>
            </a:r>
            <a:r>
              <a:rPr lang="ko-KR" altLang="en-US"/>
              <a:t>부서 이름</a:t>
            </a:r>
            <a:r>
              <a:rPr lang="en-US" altLang="ko-KR"/>
              <a:t>(DNAME), </a:t>
            </a:r>
            <a:r>
              <a:rPr lang="ko-KR" altLang="en-US"/>
              <a:t>급여</a:t>
            </a:r>
            <a:r>
              <a:rPr lang="en-US" altLang="ko-KR"/>
              <a:t>(SAL)</a:t>
            </a:r>
            <a:r>
              <a:rPr lang="ko-KR" altLang="en-US"/>
              <a:t>를 출력하되</a:t>
            </a:r>
            <a:r>
              <a:rPr lang="en-US" altLang="ko-KR"/>
              <a:t>, </a:t>
            </a:r>
            <a:r>
              <a:rPr lang="ko-KR" altLang="en-US"/>
              <a:t>사원이 없는 부서도 포함시켜서 출력하시오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e.ename, d.dname, e.sal from emp e right join dept d on 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en-US" altLang="ko-KR"/>
              <a:t>e.deptno = d.deptno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en-US" altLang="ko-KR"/>
              <a:t> </a:t>
            </a:r>
            <a:r>
              <a:rPr lang="en-US" altLang="ko-KR">
                <a:solidFill>
                  <a:srgbClr val="800080"/>
                </a:solidFill>
              </a:rPr>
              <a:t>where sal &gt;= 2000;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SELECT     E.ENAME,    D.DNAME,    E.SAL FROM     DEPT D LEFT JOIN     EMP E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ON     D.DEPTNO = E.DEPTNO </a:t>
            </a:r>
            <a:r>
              <a:rPr lang="en-US" altLang="ko-KR">
                <a:solidFill>
                  <a:srgbClr val="800080"/>
                </a:solidFill>
              </a:rPr>
              <a:t>AND E.SAL &gt;= 2000</a:t>
            </a:r>
            <a:r>
              <a:rPr lang="en-US" altLang="ko-KR"/>
              <a:t>;</a:t>
            </a:r>
            <a:endParaRPr lang="en-US" altLang="ko-K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_rels/them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jpeg"  /></Relationships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원본">
  <a:themeElements>
    <a:clrScheme name="원본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원본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SimSun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MS PGothic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원본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 rotWithShape="1">
          <a:blip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R&amp;D</ep:Company>
  <ep:Words>861</ep:Words>
  <ep:PresentationFormat>화면 슬라이드 쇼(4:3)</ep:PresentationFormat>
  <ep:Paragraphs>92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원본</vt:lpstr>
      <vt:lpstr>04 SELECT문의 기본 형식</vt:lpstr>
      <vt:lpstr>04 SELECT문의 기본 형식</vt:lpstr>
      <vt:lpstr>05 더 정확하고 다양하게 결과를 출력하는 WHERE절과 연산자</vt:lpstr>
      <vt:lpstr>07. 다중행 함수와 데이터 그룹화</vt:lpstr>
      <vt:lpstr>07. 다중행 함수와 데이터 그룹화</vt:lpstr>
      <vt:lpstr>08. 여러 테이블을 하나의 테이블처럼 사용하는 조인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2006-10-05T04:04:58.000</dcterms:created>
  <dc:creator>Microsoft Corporation</dc:creator>
  <cp:lastModifiedBy>verny</cp:lastModifiedBy>
  <dcterms:modified xsi:type="dcterms:W3CDTF">2026-04-24T13:45:34.051</dcterms:modified>
  <cp:revision>118</cp:revision>
  <dc:title>Chap01</dc:title>
  <cp:version>1000.0000.01</cp:version>
</cp:coreProperties>
</file>